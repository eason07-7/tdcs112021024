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400" b="0" i="0">
                <a:solidFill>
                  <a:srgbClr val="2C5FA9"/>
                </a:solidFill>
                <a:latin typeface="Microsoft JhengHei"/>
              </a:rPr>
              <a:t>TDCS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800" b="1" i="0">
                <a:solidFill>
                  <a:srgbClr val="1A1A1A"/>
                </a:solidFill>
                <a:latin typeface="Microsoft JhengHei"/>
              </a:rPr>
              <a:t>國道車流資料下載清洗 CLI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書面報告中的編號為何看不懂？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§2.1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Microsoft JhengHei"/>
              </a:rPr>
              <a:t>書面報告 §2.1 配置一覽表右欄 — 讀者看到「demo_17 / demo_18 ...」無法對應到任何東西</a:t>
            </a:r>
          </a:p>
        </p:txBody>
      </p:sp>
      <p:pic>
        <p:nvPicPr>
          <p:cNvPr id="6" name="Picture 5" descr="pdf_section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5100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i="1">
                <a:solidFill>
                  <a:srgbClr val="6B6B6B"/>
                </a:solidFill>
                <a:latin typeface="Microsoft JhengHei"/>
              </a:rPr>
              <a:t>「配圖」欄出現 demo_17 / demo_18，但 PDF 完整看不到 demo_17 是什麼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原因：開發代號忘記翻成 Figure 編號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補充章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Microsoft JhengHei"/>
              </a:rPr>
              <a:t>這 6 張是 VS Code 開我們專案的截圖、左欄檔名真的就叫 demo_XX_*.png — 內部代號、不是事後虛構</a:t>
            </a:r>
          </a:p>
        </p:txBody>
      </p:sp>
      <p:pic>
        <p:nvPicPr>
          <p:cNvPr id="6" name="Picture 5" descr="proof_vscode_01_demo17_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3749039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566160"/>
            <a:ext cx="37490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2C5FA9"/>
                </a:solidFill>
                <a:latin typeface="Microsoft JhengHei"/>
              </a:rPr>
              <a:t>demo_17 → Lambda 配置</a:t>
            </a:r>
          </a:p>
        </p:txBody>
      </p:sp>
      <p:pic>
        <p:nvPicPr>
          <p:cNvPr id="8" name="Picture 7" descr="proof_vscode_02_demo18_sq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691640"/>
            <a:ext cx="3749039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51959" y="3566160"/>
            <a:ext cx="37490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2C5FA9"/>
                </a:solidFill>
                <a:latin typeface="Microsoft JhengHei"/>
              </a:rPr>
              <a:t>demo_18 → SQS 佇列</a:t>
            </a:r>
          </a:p>
        </p:txBody>
      </p:sp>
      <p:pic>
        <p:nvPicPr>
          <p:cNvPr id="10" name="Picture 9" descr="proof_vscode_03_demo12_athe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8" y="1691640"/>
            <a:ext cx="3749039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18" y="3566160"/>
            <a:ext cx="37490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2C5FA9"/>
                </a:solidFill>
                <a:latin typeface="Microsoft JhengHei"/>
              </a:rPr>
              <a:t>demo_12 → Athena workgroup</a:t>
            </a:r>
          </a:p>
        </p:txBody>
      </p:sp>
      <p:pic>
        <p:nvPicPr>
          <p:cNvPr id="12" name="Picture 11" descr="proof_vscode_04_demo19_g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77640"/>
            <a:ext cx="3749039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852160"/>
            <a:ext cx="37490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2C5FA9"/>
                </a:solidFill>
                <a:latin typeface="Microsoft JhengHei"/>
              </a:rPr>
              <a:t>demo_19 → Glue 資料表</a:t>
            </a:r>
          </a:p>
        </p:txBody>
      </p:sp>
      <p:pic>
        <p:nvPicPr>
          <p:cNvPr id="14" name="Picture 13" descr="proof_vscode_05_demo20_apig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59" y="3977640"/>
            <a:ext cx="3749039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51959" y="5852160"/>
            <a:ext cx="37490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2C5FA9"/>
                </a:solidFill>
                <a:latin typeface="Microsoft JhengHei"/>
              </a:rPr>
              <a:t>demo_20 → API Gateway 路由</a:t>
            </a:r>
          </a:p>
        </p:txBody>
      </p:sp>
      <p:pic>
        <p:nvPicPr>
          <p:cNvPr id="16" name="Picture 15" descr="proof_vscode_06_demo21_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18" y="3977640"/>
            <a:ext cx="3749039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18" y="5852160"/>
            <a:ext cx="374903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2C5FA9"/>
                </a:solidFill>
                <a:latin typeface="Microsoft JhengHei"/>
              </a:rPr>
              <a:t>demo_21 → S3 資料夾結構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Microsoft JhengHei"/>
              </a:rPr>
              <a:t>實作組員用代號傳給文書組員、文書組員整合時忘了改成 Figure 編號 — 流程疏失、非造假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系統整體架構 — 7 步端到端流程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886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 i="0">
                <a:solidFill>
                  <a:srgbClr val="2C5FA9"/>
                </a:solidFill>
                <a:latin typeface="Microsoft JhengHei"/>
              </a:rPr>
              <a:t>(1) 本機下載 → (2) 上傳 S3 → (3) POST /clean → (4) 進 SQS 排隊 → (5) Lambda 清洗 → (6) Glue 註冊 → (7) Athena 查詢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本地端 CLI：技術選擇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§2.2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 i="0">
                <a:solidFill>
                  <a:srgbClr val="2C5FA9"/>
                </a:solidFill>
                <a:latin typeface="Microsoft JhengHei"/>
              </a:rPr>
              <a:t>技術棧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icrosoft JhengHei"/>
              </a:rPr>
              <a:t>• 語言：TypeScript（不用 Python）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icrosoft JhengHei"/>
              </a:rPr>
              <a:t>• 終端 UI：ink（在終端機跑 React）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icrosoft JhengHei"/>
              </a:rPr>
              <a:t>• 打包：esbuild → 單一 dist/index.js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icrosoft JhengHei"/>
              </a:rPr>
              <a:t>• 入口：bin/tdcs-dl、可 npm 全域裝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Microsoft JhengHei"/>
              </a:rPr>
              <a:t>• AWS SDK：v3（modular、tree-shake）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 i="0">
                <a:solidFill>
                  <a:srgbClr val="2C5FA9"/>
                </a:solidFill>
                <a:latin typeface="Microsoft JhengHei"/>
              </a:rPr>
              <a:t>為什麼這樣選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21208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TypeScript：npm 一行就能裝、不必處理 Python venv、跨平台 OK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ink：互動式選單比 prompt 一行一行問友善 10 倍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esbuild 單檔：使用者不必裝任何依賴、節省磁碟與環境麻煩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整套都是現成成熟工具、不重新發明輪子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Microsoft JhengHei"/>
              </a:rPr>
              <a:t>課堂沒教的工具：ink / esbuild — 自學官方文件 + 範例專案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本地端 CLI：五步 wizard 怎麼設計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§2.2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2287" y="1463040"/>
            <a:ext cx="2103120" cy="1371600"/>
          </a:xfrm>
          <a:prstGeom prst="rect">
            <a:avLst/>
          </a:prstGeom>
          <a:solidFill>
            <a:srgbClr val="E8EFF8"/>
          </a:solidFill>
          <a:ln>
            <a:solidFill>
              <a:srgbClr val="2C5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27000"/>
          <a:lstStyle/>
          <a:p>
            <a:pPr algn="ctr"/>
            <a:r>
              <a:rPr sz="1300" b="1">
                <a:solidFill>
                  <a:srgbClr val="2C5FA9"/>
                </a:solidFill>
                <a:latin typeface="Microsoft JhengHei"/>
              </a:rPr>
              <a:t>Step 1</a:t>
            </a:r>
          </a:p>
          <a:p>
            <a:pPr algn="ctr"/>
            <a:r>
              <a:rPr sz="1700" b="1">
                <a:solidFill>
                  <a:srgbClr val="1A1A1A"/>
                </a:solidFill>
                <a:latin typeface="Microsoft JhengHei"/>
              </a:rPr>
              <a:t>資料類型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Microsoft JhengHei"/>
              </a:rPr>
              <a:t>選 M06A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58287" y="1463040"/>
            <a:ext cx="2103120" cy="1371600"/>
          </a:xfrm>
          <a:prstGeom prst="rect">
            <a:avLst/>
          </a:prstGeom>
          <a:solidFill>
            <a:srgbClr val="E8EFF8"/>
          </a:solidFill>
          <a:ln>
            <a:solidFill>
              <a:srgbClr val="2C5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27000"/>
          <a:lstStyle/>
          <a:p>
            <a:pPr algn="ctr"/>
            <a:r>
              <a:rPr sz="1300" b="1">
                <a:solidFill>
                  <a:srgbClr val="2C5FA9"/>
                </a:solidFill>
                <a:latin typeface="Microsoft JhengHei"/>
              </a:rPr>
              <a:t>Step 2</a:t>
            </a:r>
          </a:p>
          <a:p>
            <a:pPr algn="ctr"/>
            <a:r>
              <a:rPr sz="1700" b="1">
                <a:solidFill>
                  <a:srgbClr val="1A1A1A"/>
                </a:solidFill>
                <a:latin typeface="Microsoft JhengHei"/>
              </a:rPr>
              <a:t>時間區間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Microsoft JhengHei"/>
              </a:rPr>
              <a:t>整月 / 單日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4287" y="1463040"/>
            <a:ext cx="2103120" cy="1371600"/>
          </a:xfrm>
          <a:prstGeom prst="rect">
            <a:avLst/>
          </a:prstGeom>
          <a:solidFill>
            <a:srgbClr val="E8EFF8"/>
          </a:solidFill>
          <a:ln>
            <a:solidFill>
              <a:srgbClr val="2C5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27000"/>
          <a:lstStyle/>
          <a:p>
            <a:pPr algn="ctr"/>
            <a:r>
              <a:rPr sz="1300" b="1">
                <a:solidFill>
                  <a:srgbClr val="2C5FA9"/>
                </a:solidFill>
                <a:latin typeface="Microsoft JhengHei"/>
              </a:rPr>
              <a:t>Step 3</a:t>
            </a:r>
          </a:p>
          <a:p>
            <a:pPr algn="ctr"/>
            <a:r>
              <a:rPr sz="1700" b="1">
                <a:solidFill>
                  <a:srgbClr val="1A1A1A"/>
                </a:solidFill>
                <a:latin typeface="Microsoft JhengHei"/>
              </a:rPr>
              <a:t>交流道門架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Microsoft JhengHei"/>
              </a:rPr>
              <a:t>多選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0287" y="1463040"/>
            <a:ext cx="2103120" cy="1371600"/>
          </a:xfrm>
          <a:prstGeom prst="rect">
            <a:avLst/>
          </a:prstGeom>
          <a:solidFill>
            <a:srgbClr val="E8EFF8"/>
          </a:solidFill>
          <a:ln>
            <a:solidFill>
              <a:srgbClr val="2C5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27000"/>
          <a:lstStyle/>
          <a:p>
            <a:pPr algn="ctr"/>
            <a:r>
              <a:rPr sz="1300" b="1">
                <a:solidFill>
                  <a:srgbClr val="2C5FA9"/>
                </a:solidFill>
                <a:latin typeface="Microsoft JhengHei"/>
              </a:rPr>
              <a:t>Step 4</a:t>
            </a:r>
          </a:p>
          <a:p>
            <a:pPr algn="ctr"/>
            <a:r>
              <a:rPr sz="1700" b="1">
                <a:solidFill>
                  <a:srgbClr val="1A1A1A"/>
                </a:solidFill>
                <a:latin typeface="Microsoft JhengHei"/>
              </a:rPr>
              <a:t>輸出位置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Microsoft JhengHei"/>
              </a:rPr>
              <a:t>S3 / 本機</a:t>
            </a:r>
          </a:p>
        </p:txBody>
      </p:sp>
      <p:sp>
        <p:nvSpPr>
          <p:cNvPr id="9" name="Rectangle 8"/>
          <p:cNvSpPr/>
          <p:nvPr/>
        </p:nvSpPr>
        <p:spPr>
          <a:xfrm>
            <a:off x="9616287" y="1463040"/>
            <a:ext cx="2103120" cy="1371600"/>
          </a:xfrm>
          <a:prstGeom prst="rect">
            <a:avLst/>
          </a:prstGeom>
          <a:solidFill>
            <a:srgbClr val="E8EFF8"/>
          </a:solidFill>
          <a:ln>
            <a:solidFill>
              <a:srgbClr val="2C5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27000"/>
          <a:lstStyle/>
          <a:p>
            <a:pPr algn="ctr"/>
            <a:r>
              <a:rPr sz="1300" b="1">
                <a:solidFill>
                  <a:srgbClr val="2C5FA9"/>
                </a:solidFill>
                <a:latin typeface="Microsoft JhengHei"/>
              </a:rPr>
              <a:t>Step 5</a:t>
            </a:r>
          </a:p>
          <a:p>
            <a:pPr algn="ctr"/>
            <a:r>
              <a:rPr sz="1700" b="1">
                <a:solidFill>
                  <a:srgbClr val="1A1A1A"/>
                </a:solidFill>
                <a:latin typeface="Microsoft JhengHei"/>
              </a:rPr>
              <a:t>確認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Microsoft JhengHei"/>
              </a:rPr>
              <a:t>Enter 送出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 i="0">
                <a:solidFill>
                  <a:srgbClr val="2C5FA9"/>
                </a:solidFill>
                <a:latin typeface="Microsoft JhengHei"/>
              </a:rPr>
              <a:t>設計理由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106424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每步只一個決策 — 不一次壓垮使用者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ESC 可隨時回上一步 — 容錯設計、不必重來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狀態用 state machine 管：goNext / goPrev / state.answers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5 個 React 元件（Data.tsx / Time.tsx / Gantry.tsx / Output.tsx / Confirm.tsx）— 模組化、可獨立測試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確認頁顯示所有選擇後才實際送出 — 提交前最後檢查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下載策略 E6：7 種候選方案的科學取捨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§3.6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Microsoft JhengHei"/>
              </a:rPr>
              <a:t>核心問題：TDCS 公開資料只認台灣 IP、我們的 AWS 卻鎖在美國東部 — 怎麼讓 us-east-1 抓到台灣 IP 限定的資料？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731520" cy="457200"/>
          </a:xfrm>
          <a:prstGeom prst="rect">
            <a:avLst/>
          </a:prstGeom>
          <a:solidFill>
            <a:srgbClr val="2C5FA9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828800"/>
            <a:ext cx="4206240" cy="457200"/>
          </a:xfrm>
          <a:prstGeom prst="rect">
            <a:avLst/>
          </a:prstGeom>
          <a:solidFill>
            <a:srgbClr val="2C5FA9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1">
                <a:solidFill>
                  <a:srgbClr val="FFFFFF"/>
                </a:solidFill>
                <a:latin typeface="Microsoft JhengHei"/>
              </a:rPr>
              <a:t>候選方案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828800"/>
            <a:ext cx="3657600" cy="457200"/>
          </a:xfrm>
          <a:prstGeom prst="rect">
            <a:avLst/>
          </a:prstGeom>
          <a:solidFill>
            <a:srgbClr val="2C5FA9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1">
                <a:solidFill>
                  <a:srgbClr val="FFFFFF"/>
                </a:solidFill>
                <a:latin typeface="Microsoft JhengHei"/>
              </a:rPr>
              <a:t>狀態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1828800"/>
            <a:ext cx="2743200" cy="457200"/>
          </a:xfrm>
          <a:prstGeom prst="rect">
            <a:avLst/>
          </a:prstGeom>
          <a:solidFill>
            <a:srgbClr val="2C5FA9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1">
                <a:solidFill>
                  <a:srgbClr val="FFFFFF"/>
                </a:solidFill>
                <a:latin typeface="Microsoft JhengHei"/>
              </a:rPr>
              <a:t>結論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ctr"/>
            <a:r>
              <a:rPr sz="1000" b="0">
                <a:solidFill>
                  <a:srgbClr val="1A1A1A"/>
                </a:solidFill>
                <a:latin typeface="Microsoft JhengHei"/>
              </a:rPr>
              <a:t>E1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286000"/>
            <a:ext cx="4206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Lambda 直連 TDCS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2860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✅ 實測：timeout 15,990ms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2286000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❌ 確認封鎖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4320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ctr"/>
            <a:r>
              <a:rPr sz="1000" b="0">
                <a:solidFill>
                  <a:srgbClr val="1A1A1A"/>
                </a:solidFill>
                <a:latin typeface="Microsoft JhengHei"/>
              </a:rPr>
              <a:t>E2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743200"/>
            <a:ext cx="4206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EC2 直連 TDCS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27432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✅ 實測：curl exit 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743200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❌ 同 E1、區域層級封鎖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0040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ctr"/>
            <a:r>
              <a:rPr sz="1000" b="0">
                <a:solidFill>
                  <a:srgbClr val="1A1A1A"/>
                </a:solidFill>
                <a:latin typeface="Microsoft JhengHei"/>
              </a:rPr>
              <a:t>E3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3200400"/>
            <a:ext cx="4206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第三方 proxy（BrightData 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2004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📋 文件分析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3200400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需付費 + 信用卡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5760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ctr"/>
            <a:r>
              <a:rPr sz="1000" b="0">
                <a:solidFill>
                  <a:srgbClr val="1A1A1A"/>
                </a:solidFill>
                <a:latin typeface="Microsoft JhengHei"/>
              </a:rPr>
              <a:t>E4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3657600"/>
            <a:ext cx="4206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Tailscale + EC2 subnet 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36576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📋 架構分析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3657600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3 SPOF 風險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11480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ctr"/>
            <a:r>
              <a:rPr sz="1000" b="0">
                <a:solidFill>
                  <a:srgbClr val="1A1A1A"/>
                </a:solidFill>
                <a:latin typeface="Microsoft JhengHei"/>
              </a:rPr>
              <a:t>E5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4114800"/>
            <a:ext cx="4206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nginx + Cloudflare tunnel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41148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📋 設計分析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4114800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免費但 URL 不穩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572000"/>
            <a:ext cx="731520" cy="457200"/>
          </a:xfrm>
          <a:prstGeom prst="rect">
            <a:avLst/>
          </a:prstGeom>
          <a:solidFill>
            <a:srgbClr val="E8EF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ctr"/>
            <a:r>
              <a:rPr sz="1000" b="1">
                <a:solidFill>
                  <a:srgbClr val="1A1A1A"/>
                </a:solidFill>
                <a:latin typeface="Microsoft JhengHei"/>
              </a:rPr>
              <a:t>E6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4572000"/>
            <a:ext cx="4206240" cy="457200"/>
          </a:xfrm>
          <a:prstGeom prst="rect">
            <a:avLst/>
          </a:prstGeom>
          <a:solidFill>
            <a:srgbClr val="E8EF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1">
                <a:solidFill>
                  <a:srgbClr val="1A1A1A"/>
                </a:solidFill>
                <a:latin typeface="Microsoft JhengHei"/>
              </a:rPr>
              <a:t>純 client-side（本機下載 → S3）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240" y="4572000"/>
            <a:ext cx="3657600" cy="457200"/>
          </a:xfrm>
          <a:prstGeom prst="rect">
            <a:avLst/>
          </a:prstGeom>
          <a:solidFill>
            <a:srgbClr val="E8EF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1">
                <a:solidFill>
                  <a:srgbClr val="1A1A1A"/>
                </a:solidFill>
                <a:latin typeface="Microsoft JhengHei"/>
              </a:rPr>
              <a:t>✅ PoC 通過 + 麻豆段 22 GB 真跑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4572000"/>
            <a:ext cx="2743200" cy="457200"/>
          </a:xfrm>
          <a:prstGeom prst="rect">
            <a:avLst/>
          </a:prstGeom>
          <a:solidFill>
            <a:srgbClr val="E8EFF8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1">
                <a:solidFill>
                  <a:srgbClr val="1A1A1A"/>
                </a:solidFill>
                <a:latin typeface="Microsoft JhengHei"/>
              </a:rPr>
              <a:t>✅ Winner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029200"/>
            <a:ext cx="7315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ctr"/>
            <a:r>
              <a:rPr sz="1000" b="0">
                <a:solidFill>
                  <a:srgbClr val="1A1A1A"/>
                </a:solidFill>
                <a:latin typeface="Microsoft JhengHei"/>
              </a:rPr>
              <a:t>E7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5029200"/>
            <a:ext cx="42062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Hybrid S3 cache + webhook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50292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📋 架構設計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5029200"/>
            <a:ext cx="2743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/>
          <a:lstStyle/>
          <a:p>
            <a:pPr algn="l"/>
            <a:r>
              <a:rPr sz="1000" b="0">
                <a:solidFill>
                  <a:srgbClr val="1A1A1A"/>
                </a:solidFill>
                <a:latin typeface="Microsoft JhengHei"/>
              </a:rPr>
              <a:t>依賴鏈太複雜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 i="1">
                <a:solidFill>
                  <a:srgbClr val="2C5FA9"/>
                </a:solidFill>
                <a:latin typeface="Microsoft JhengHei"/>
              </a:rPr>
              <a:t>結論：下載必須走本機（台灣 IP 是物理約束）、AWS 只負責清洗 + 查詢 — 對的東西在對的地方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CLI ↔ AWS 怎麼對接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212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Endpoint 三層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2120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1. env 變數（TDCS_DL_ENDPOINT） — 開發測試用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2. config 檔（~/.tdcs-dl/config.json） — 自架者用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3. 預設 hardcoded — 本 demo 帳號用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為什麼三層：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→ 教學版預設 hardcode、不用設定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→ 自架者可改 config 指自己的 API GW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→ 同一份 CLI 兼容兩種使用情境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觸發 + 輪詢機制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1. CLI POST /clean → API GW 秒回 job_id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2. CLI 每 5 秒 GET /jobs/{id} 一次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3. 狀態流：accepted → processing → done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4. 看到 done 才結束等待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為什麼這樣：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→ POST 立刻回、不卡 30 秒 timeout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→ Lambda 慢慢清、CLI 慢慢問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→ HTTP 標準、不用建長連線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Microsoft JhengHei"/>
              </a:rPr>
              <a:t>三層 endpoint 是「demo 版 vs 自架版」共用一份 code 的關鍵設計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Lambda Container：為什麼用 image 不用 zip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§3.3 + §3.4 + §3.5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Microsoft JhengHei"/>
              </a:rPr>
              <a:t>Lambda 部署有兩種方式：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Microsoft JhengHei"/>
              </a:rPr>
              <a:t>• Zip 包：上傳程式碼壓縮檔、限 250 MB、只能用預設 runtime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Microsoft JhengHei"/>
              </a:rPr>
              <a:t>• Container image：上傳 Docker image、限 10 GB、可自帶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為什麼我們選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6424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1. 清洗用 nodejs-polars（Rust 寫的 native 模組）— 不在 Lambda 預設 runtime 裡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2. Container 讓我們用 Docker 把 polars + Node.js 包成 image、推 ECR、Lambda 拉來跑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3. Image tag = git commit SHA — 每次部署 tag 都不同、Terraform 看得到變化會更新</a:t>
            </a:r>
          </a:p>
          <a:p>
            <a:pPr algn="l"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4. 配置：memory 2048 MB / timeout 900 s / ephemeral 1024 MB（§2.1 配置表）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Microsoft JhengHei"/>
              </a:rPr>
              <a:t>git SHA tag 解決「:latest 鎖死、Lambda 不更新」的鬼打牆問題（§3.3）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SQS broker：30 秒對上 14 分鐘的鴻溝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§3.2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Microsoft JhengHei"/>
              </a:rPr>
              <a:t>問題：API Gateway 最多等 30 秒、Lambda 清洗要 847 秒（14 分鐘）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2560320" cy="502920"/>
          </a:xfrm>
          <a:prstGeom prst="rect">
            <a:avLst/>
          </a:prstGeom>
          <a:solidFill>
            <a:srgbClr val="2C5FA9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874519"/>
            <a:ext cx="4114800" cy="502920"/>
          </a:xfrm>
          <a:prstGeom prst="rect">
            <a:avLst/>
          </a:prstGeom>
          <a:solidFill>
            <a:srgbClr val="2C5FA9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874519"/>
            <a:ext cx="4114800" cy="502920"/>
          </a:xfrm>
          <a:prstGeom prst="rect">
            <a:avLst/>
          </a:prstGeom>
          <a:solidFill>
            <a:srgbClr val="2C5FA9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我們需要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39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JhengHei"/>
              </a:rPr>
              <a:t>API Gateway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377439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JhengHei"/>
              </a:rPr>
              <a:t>30 秒 timeout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377439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JhengHei"/>
              </a:rPr>
              <a:t>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59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JhengHei"/>
              </a:rPr>
              <a:t>Lambda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880359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JhengHei"/>
              </a:rPr>
              <a:t>15 分鐘 timeout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880359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JhengHei"/>
              </a:rPr>
              <a:t>清洗實測 847 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83279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1">
                <a:solidFill>
                  <a:srgbClr val="1A1A1A"/>
                </a:solidFill>
                <a:latin typeface="Microsoft JhengHei"/>
              </a:rPr>
              <a:t>差距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383279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JhengHei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383279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76200"/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JhengHei"/>
              </a:rPr>
              <a:t>28 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解法：SQS 排隊 + producer/consumer 拆兩段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106424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Producer 路徑（API GW 觸發）：收到請求 → 寫 SQS → 立刻回 job_id（&lt; 1 秒）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Consumer 路徑（SQS event source）：背景做 14 分鐘清洗、不必任何人等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同一個 Lambda 兩個 trigger — 程式碼一份、兩個進入點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DLQ 死信佇列 maxReceiveCount=2：失敗重試 1 次後送死信、不無限重跑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Athena + Glue：為什麼選 serverless 查詢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§3.5 + §4.1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2120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Glue Data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2120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註冊 cleaned_v2_skeleton 資料表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9 欄 snake_case + partition yyyymm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Lambda 寫 Parquet 完跑 MSCK REPAIR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自動發現新 partition、不必手動加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Athena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Serverless SQL：開查就用、沒在用就 $0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按 scan 大小計費（$5 / TB）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Workgroup 設 10 MB scan cap 護網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Microsoft JhengHei"/>
              </a:rPr>
              <a:t>• 實測查 1 次掃 50-100 KB、計費 $0.0000005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為什麼不用 RDS / RedShift？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那是「常駐機器」、按月計費（RDS 約 $50/月、RedShift 約 $180/月）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我們資料量小（17 GB）、查詢稀疏（一天幾次）— 用不到常駐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Athena 規模小時就是免費、規模大時才開始付費 — 完全 fit 學期專題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Microsoft JhengHei"/>
              </a:rPr>
              <a:t>IaC：所有 AWS 設定都用程式碼管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411480"/>
            <a:ext cx="1645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 i="0">
                <a:solidFill>
                  <a:srgbClr val="2C5FA9"/>
                </a:solidFill>
                <a:latin typeface="Microsoft JhengHei"/>
              </a:rPr>
              <a:t>對應 PDF §2.1 雙錨對齊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106424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infra/terraform/ 共 11 個 .tf 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main.tf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AWS provider、region 鎖定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variables.tf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9456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Account ID、bucket 名等變數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s3.tf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56032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S3 bucket 引用 + 4 個 prefix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lambda.tf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92608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Lambda function tdcs-dl-cleaner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apigw.tf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29184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API Gateway HTTP API + 2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sqs.tf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6576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SQS queue + DLQ + event source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glue.tf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Glue database + table + 9 欄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945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athena.tf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19456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Athena workgroup + 10 MB scan 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603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budget.tf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56032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F-H3 cost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92608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outputs.tf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92608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api_gw_url / lambda_arn 等輸出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29184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 i="0">
                <a:solidFill>
                  <a:srgbClr val="2C5FA9"/>
                </a:solidFill>
                <a:latin typeface="Consolas"/>
              </a:rPr>
              <a:t>versions.tf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291840"/>
            <a:ext cx="3657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icrosoft JhengHei"/>
              </a:rPr>
              <a:t>Terraform 與 provider 版本鎖定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i="0">
                <a:solidFill>
                  <a:srgbClr val="2C5FA9"/>
                </a:solidFill>
                <a:latin typeface="Microsoft JhengHei"/>
              </a:rPr>
              <a:t>意義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20640"/>
            <a:ext cx="110642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任何人 clone 這個 repo、在自己 AWS 帳號跑 `terraform apply` → 重建一模一樣的後端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配置是程式碼、不是「在 Console 手點完留個截圖」 — Console live 值 = .tf 程式碼，零漂移（§2.1 雙錨）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Microsoft JhengHei"/>
              </a:rPr>
              <a:t>• 這是 v3.0「人人可自架」的基礎 — 不必跟我們拿金鑰、用自己的帳號就行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Microsoft JhengHei"/>
              </a:rPr>
              <a:t>TDCS 國道車流資料下載清洗 CLI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Microsoft Jheng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Microsoft JhengHei"/>
              </a:rPr>
              <a:t>現場重現一次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560320"/>
            <a:ext cx="640080" cy="640080"/>
          </a:xfrm>
          <a:prstGeom prst="ellipse">
            <a:avLst/>
          </a:prstGeom>
          <a:solidFill>
            <a:srgbClr val="2C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60604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JhengHei"/>
              </a:rPr>
              <a:t>AWS 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651760"/>
            <a:ext cx="6400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Microsoft JhengHei"/>
              </a:rPr>
              <a:t>看 S3 raw 目前只有 3 / 4 / 5 月、沒有 6 月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337560"/>
            <a:ext cx="640080" cy="640080"/>
          </a:xfrm>
          <a:prstGeom prst="ellipse">
            <a:avLst/>
          </a:prstGeom>
          <a:solidFill>
            <a:srgbClr val="2C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38328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JhengHei"/>
              </a:rPr>
              <a:t>本機跑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429000"/>
            <a:ext cx="6400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Microsoft JhengHei"/>
              </a:rPr>
              <a:t>node cli/dist/index.js → 五步精靈 → 選 0601 單日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114800"/>
            <a:ext cx="640080" cy="640080"/>
          </a:xfrm>
          <a:prstGeom prst="ellipse">
            <a:avLst/>
          </a:prstGeom>
          <a:solidFill>
            <a:srgbClr val="2C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16052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JhengHei"/>
              </a:rPr>
              <a:t>看 S3 raw 新檔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06240"/>
            <a:ext cx="6400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Microsoft JhengHei"/>
              </a:rPr>
              <a:t>yyyymm=202606/ 出現、含 24 個 csv.gz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892040"/>
            <a:ext cx="640080" cy="640080"/>
          </a:xfrm>
          <a:prstGeom prst="ellipse">
            <a:avLst/>
          </a:prstGeom>
          <a:solidFill>
            <a:srgbClr val="2C5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2540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937760"/>
            <a:ext cx="2743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Microsoft JhengHei"/>
              </a:rPr>
              <a:t>看清洗結果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983480"/>
            <a:ext cx="6400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Microsoft JhengHei"/>
              </a:rPr>
              <a:t>cleaned.parquet + Athena 查 — 數字對得上選的範圍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 i="0">
                <a:solidFill>
                  <a:srgbClr val="2C5FA9"/>
                </a:solidFill>
                <a:latin typeface="Microsoft JhengHei"/>
              </a:rPr>
              <a:t>請看螢幕切到 AWS Console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onsolas"/>
              </a:rPr>
              <a:t>github.com/eason07-7/TDCS112021024  ‧  所有 code、配置、截圖均公開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