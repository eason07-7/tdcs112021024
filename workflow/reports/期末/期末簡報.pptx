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251" autoAdjust="0"/>
  </p:normalViewPr>
  <p:slideViewPr>
    <p:cSldViewPr snapToGrid="0" snapToObjects="1">
      <p:cViewPr varScale="1">
        <p:scale>
          <a:sx n="66" d="100"/>
          <a:sy n="66" d="100"/>
        </p:scale>
        <p:origin x="10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50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老師、助教、各位同學好，我們是第 17 組。我們這次的題目是「國道車流資料的下載跟清洗工具」。[Pause] 簡單來說，我們把期中那個只跑過一次、又只能跑麻豆段的手工流程，做成了一套任何人都能拿來用的雲端工具。</a:t>
            </a:r>
          </a:p>
          <a:p/>
          <a:p>
            <a:r>
              <a:t>重點：① 第 17 組 國道車流下載清洗工具 ② 從一次性手工到可重現工具 ③ 課程：大數據資料處理 3A</a:t>
            </a:r>
          </a:p>
          <a:p>
            <a:r>
              <a:t>時長：0.5 分鐘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先講我們在想解決什麼問題。</a:t>
            </a:r>
          </a:p>
          <a:p/>
          <a:p>
            <a:r>
              <a:t>我們發現有個痛點：每一個想分析國道車流的人，都要自己寫程式去下載原始資料、再自己寫程式整理那些雜亂的檔案，這些前置工作每個人都重複做一次，其實滿浪費的。[Pause] 所以我們做了一支工具，前面是一步一步的選單、後面接 AWS。它的價值就是：上游的苦工只做一次、整理完的乾淨資料放到雲端、大家共用——大檔案的儲存跟處理都讓雲端去扛，使用者的電腦只要按一下、收結果就好。</a:t>
            </a:r>
          </a:p>
          <a:p/>
          <a:p>
            <a:r>
              <a:t>重點：① 痛點是重複的下載與清洗苦工 ② 一步一步的選單 + AWS 後端 ③ 雲端扛重活、本機保持輕量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那這跟期中比，差在哪裡？</a:t>
            </a:r>
          </a:p>
          <a:p/>
          <a:p>
            <a:r>
              <a:t>重點其實不是「跑得更快」，是讓整個流程變得有人都可以重跑、可以套到不同路段、可以被檢查、可以傳給後面的人接手。[Pause] 期中那一版是一個 Python 腳本，路徑全部寫死、綁住 2026 年 3 月的麻豆四個匝道，換一台電腦就要改五六個地方；現在這一版只要打一行指令、跟著選五個選項，要哪一年、哪一個月、哪一條路段都可以，重點是不用會 Python 也能跑。</a:t>
            </a:r>
          </a:p>
          <a:p/>
          <a:p>
            <a:r>
              <a:t>重點：① 不是跑更快、是更可重現 ② 期中綁死環境與資料 ③ 期末任意路段都能跑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來看整體架構，這張圖是整套系統的核心。</a:t>
            </a:r>
          </a:p>
          <a:p/>
          <a:p>
            <a:r>
              <a:t>一句話：辛苦的工作在雲端做、本機只負責下指令跟收結果。[Pause] 流程是這樣走的：使用者用自己的電腦把 TDCS 的原始資料抓下來、上傳到 AWS 的 S3 裡放；然後透過 API Gateway 把任務丟進 SQS 排隊；接著 Lambda 把資料整理乾淨、再寫回 S3；最後用 Glue 加 Athena 就可以直接用 SQL 查。整條流程總共七步，等一下會挑幾個重點拆開來講。</a:t>
            </a:r>
          </a:p>
          <a:p/>
          <a:p>
            <a:r>
              <a:t>重點：① 重活在雲、本機輕量 ② 七步端到端：下載到查詢 ③ 核心五件套 S3 + Lambda + API Gateway + Glue + Athena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先看使用者實際會碰到的畫面，也就是這支指令工具。</a:t>
            </a:r>
          </a:p>
          <a:p/>
          <a:p>
            <a:r>
              <a:t>使用者只要打一行 npx tdcs-dl，就會跳出一個互動式的選單，跟著終端機走五步就好：第一步選資料種類、第二步選時間、第三步選交流道門架、第四步選結果要放哪裡、第五步確認，下載就自動開始。[Pause] 這幾張都是真實畫面。整個過程不用碰程式碼，也不用自己去設 AWS 的密碼。</a:t>
            </a:r>
          </a:p>
          <a:p/>
          <a:p>
            <a:r>
              <a:t>重點：① 一行指令進入選單 ② 五步：資料、時間、門架、輸出、確認 ③ 不寫程式、不設 AWS 密碼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老師很重視 AWS 的設定，所以這頁我們直接給實證。</a:t>
            </a:r>
          </a:p>
          <a:p/>
          <a:p>
            <a:r>
              <a:t>我們的重點是：所有的 AWS 設定都用程式碼管起來、沒有任何一項是在 AWS 網頁上手點的。[Pause] 這六張是我們 6 月 4 號從 AWS 後台實際撈下來的設定值——Lambda 的記憶體跟觸發方式、SQS 的排隊跟死信佇列、API Gateway 的路徑、Glue 的資料表結構、Athena 的查詢上限、S3 的資料夾——每一項都跟程式碼寫的完全一樣、零誤差。也因為全部都是程式碼，任何人在自己的帳號跑一下、就能重建出一模一樣的環境。</a:t>
            </a:r>
          </a:p>
          <a:p/>
          <a:p>
            <a:r>
              <a:t>重點：① 設定全程式碼管控、非手點 ② live 值與程式碼一致 ③ 任意帳號可一鍵重建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接下來進四個技術重點。第一個，是一個時間上的鴻溝。</a:t>
            </a:r>
          </a:p>
          <a:p/>
          <a:p>
            <a:r>
              <a:t>結論先講：API Gateway 最多只能等 30 秒就要回應，可是我們清洗一個月的資料要 847 秒、差了 28 倍。[Data] 30 秒對上 847 秒、差 28 倍。[Pause] 如果照原本的方式同步等清洗跑完才回，30 秒一到就會被回錯誤、就算後面 Lambda 還在好好做事也一樣。我們的解法是中間加一個 SQS 排隊：把「接受任務」跟「真的去做」拆開——前面那一段秒回一個追蹤碼、後面那一段就慢慢清洗、使用者之後再來查狀態就好。</a:t>
            </a:r>
          </a:p>
          <a:p/>
          <a:p>
            <a:r>
              <a:t>重點：① 30 秒對上 847 秒、差 28 倍 ② SQS 把接任務跟做事拆開 ③ 秒回追蹤碼、背景清洗</a:t>
            </a:r>
          </a:p>
          <a:p>
            <a:r>
              <a:t>時長：1.2 分鐘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第二個重點，是我們真的踩到、也真的修好的一個 bug。</a:t>
            </a:r>
          </a:p>
          <a:p/>
          <a:p>
            <a:r>
              <a:t>結論先講：用 SQL 轉型救不了，因為錯是在寫檔的時候就錯了、不是查詢的時候錯。[Pause] 一開始我們去查 Athena，它跳出來說資料格式對不起來。直覺是用 SQL 的轉型語法把它轉回去——可是試了一次、還是同樣的錯。這就代表問題其實不是出在查的階段、是寫檔的時候格式就跑掉了。我們回頭把清洗程式裡寫檔那邊明確告訴它「這幾欄是整數」、問題就解了。[Data] 而且還意外撿到一個禮物：同一份資料從 903.5 KB 縮到 76.7 KB、小了大概 12 倍。把意圖講清楚、不要讓電腦自己猜——同一個修正、同時拿到「對」跟「省」。</a:t>
            </a:r>
          </a:p>
          <a:p/>
          <a:p>
            <a:r>
              <a:t>重點：① SQL 轉型救不了、錯在寫檔不在查詢 ② 寫檔前明示格式才是真正原因 ③ 順手縮檔 12 倍</a:t>
            </a:r>
          </a:p>
          <a:p>
            <a:r>
              <a:t>時長：1.2 分鐘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第三個重點，是工具選擇的取捨。</a:t>
            </a:r>
          </a:p>
          <a:p/>
          <a:p>
            <a:r>
              <a:t>結論：我們的清洗其實只是一些簡單的整理動作、沒有複雜的跨檔合併或重排，硬要用 Glue 那種大叢集反而太大材小用，純 Lambda 就剛好。[Pause] 大家直覺上聽到「大數據」就會想要配 Glue，可是要先看清楚我們到底在做什麼——我們做的就是把檔案一個一個解開、篩出我們要的門架、做計數、加上週次標記、全程沒有跨檔案的合併或重排，Glue 那個引擎真正擅長的優勢一個都用不到。所以我們鎖定用 Lambda、跑一個月 847 秒、剛好在 15 分鐘的上限內。報告裡我們也很誠實地寫了「為什麼不選 Glue 那條路」——這是工程上的判斷、不是我們沒能力。</a:t>
            </a:r>
          </a:p>
          <a:p/>
          <a:p>
            <a:r>
              <a:t>重點：① 沒有跨檔合併、Glue 太大材小用 ② Lambda 剛好合適這個量級 ③ 誠實寫為什麼不選 Glue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第四個重點，是整個架構碰到最大的一個障礙、還有我們怎麼用實驗去解。</a:t>
            </a:r>
          </a:p>
          <a:p/>
          <a:p>
            <a:r>
              <a:t>結論先講：TDCS 只認台灣的 IP、我們的 AWS 又被綁在美國東部，所以下載這件事一定要走本機、這是物理上的限制。[Pause] 我們做了七個對照實驗來確認：E1 用 Lambda 抓、E2 用 EC2 直連，兩個都直接被擋掉、連最基本的連線握手都沒成功，這就證明 TDCS 的封鎖是整個美國區域層級的；其他幾個跳板方案各有缺點——有的要綁信用卡、有的會單點故障、有的網址不穩。所以最後選了 E6：直接從使用者本機下載、AWS 只負責收檔、清洗、查詢，跳板的錢一毛都不用花。</a:t>
            </a:r>
          </a:p>
          <a:p/>
          <a:p>
            <a:r>
              <a:t>重點：① 台灣 IP 是物理約束 ② Lambda 跟 EC2 都被擋、區域層級封鎖 ③ 從本機下載、跳板零費用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講完設計，我們要證明這不是只能跑給人看的玩具。</a:t>
            </a:r>
          </a:p>
          <a:p/>
          <a:p>
            <a:r>
              <a:t>結論：這是真的會清洗、真的可以查、真的可以重複跑。[Pause] 我們麻豆段從頭跑到尾：744 個原始檔、22 GB 的資料量、整理成 14,116 行。用 Athena 查 COUNT 出來是 14,116、做車種分群拿到五種、總共 152 萬多次通過，右邊都是實際的查詢截圖。[Pause] 這邊也誠實交代一個差異：我們是 14,116 行、期中是 14,058，多出來的 58 行不是 bug、是這次多抓齊了 3 個小時的檔案、算起來剛好對得上。</a:t>
            </a:r>
          </a:p>
          <a:p/>
          <a:p>
            <a:r>
              <a:t>重點：① 端到端真數據可重複查證 ② Athena COUNT 與分群截圖 ③ 誠實解釋 +58 行的來源</a:t>
            </a:r>
          </a:p>
          <a:p>
            <a:r>
              <a:t>時長：1 分鐘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把期中和期末放在一起、做個量化的總結。</a:t>
            </a:r>
          </a:p>
          <a:p/>
          <a:p>
            <a:r>
              <a:t>結論：工程的價值其實不在跑得多快——清洗時間差不多——而是讓整件事變得可以重現、可以套到不同情境、可以被檢查、可以傳給後面的人接手。[Pause] 這張表五個維度——能不能重現、能不能換情境跑、誰能用、有沒有留證據、文件齊不齊——期末這一欄每一項都明顯往上一階：從綁死一個案子到任意路段都能跑、從本機跑完就沒紀錄到 Athena 永久查得到、從零散筆記到完整的工程文件。</a:t>
            </a:r>
          </a:p>
          <a:p/>
          <a:p>
            <a:r>
              <a:t>重點：① 不是跑更快、是工程性質升級 ② 五維度全面提升 ③ 可重現、通用、檢查、傳承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大家可能會關心，跑這麼一整套雲端、到底要花多少錢。</a:t>
            </a:r>
          </a:p>
          <a:p/>
          <a:p>
            <a:r>
              <a:t>結論：整套一個月只花了 0.02 美元、預估到月底也就 0.19 美元。[Pause] 而且這不是因為我們沒有在用，是因為選對了服務的型態：Lambda 是用一次算一次錢、沒有那種開著就計費的常駐機器；Athena 設了查詢上限、單次查不到 30 KB；清洗結果只有 75 KB；整個過程沒有任何資源是放著不關還會跑錶的。[Benchmark] 用對工具不只能跑得動、還會省錢——這就是工程選擇的結果、直接反映在帳單上。</a:t>
            </a:r>
          </a:p>
          <a:p/>
          <a:p>
            <a:r>
              <a:t>重點：① 月花 0.02、估月底 0.19 美元 ② 按用量計費、無常駐 ③ 省錢是工程選擇的結果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[Transition] 最後做個總結。</a:t>
            </a:r>
          </a:p>
          <a:p/>
          <a:p>
            <a:r>
              <a:t>我們在期末已經證明這套設計在雲端跑得起來；接下來下一版的方向、是把它從目前的學術帳號版本、推進到人人都可以自己架的標準工具。[Pause] 三個方向：第一、使用者拿自己的 AWS 帳號加上一鍵自架的腳本、誰都不用跟我們拿密碼；第二、加上「同一份資料不重複下載」跟「邊下載邊上傳」這兩個改良、讓本機的負擔再降到最低；第三、做兩條走向——一條留在雲端、一條完全在本機、核心邏輯不變、只是換後面跑的引擎。[Pause] 最後、要感謝指導教授王經篤、課程助教、還有開發過程中協助我們的 AI 工具。謝謝大家。</a:t>
            </a:r>
          </a:p>
          <a:p/>
          <a:p>
            <a:r>
              <a:t>重點：① v2 已驗證、下一版推向人人可自架 ② 自帶帳號、不重複下載+邊下邊傳、兩條走向 ③ 致謝</a:t>
            </a:r>
          </a:p>
          <a:p>
            <a:r>
              <a:t>時長：0.8 分鐘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2D35"/>
              </a:gs>
              <a:gs pos="100000">
                <a:srgbClr val="243D47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Line 3"/>
          <p:cNvSpPr/>
          <p:nvPr/>
        </p:nvSpPr>
        <p:spPr>
          <a:xfrm>
            <a:off x="9906000" y="952500"/>
            <a:ext cx="666750" cy="285750"/>
          </a:xfrm>
          <a:custGeom>
            <a:avLst/>
            <a:gdLst/>
            <a:ahLst/>
            <a:cxnLst/>
            <a:rect l="l" t="t" r="r" b="b"/>
            <a:pathLst>
              <a:path w="666750" h="285750">
                <a:moveTo>
                  <a:pt x="0" y="285750"/>
                </a:moveTo>
                <a:lnTo>
                  <a:pt x="666750" y="0"/>
                </a:lnTo>
              </a:path>
            </a:pathLst>
          </a:custGeom>
          <a:noFill/>
          <a:ln w="14288">
            <a:solidFill>
              <a:srgbClr val="6B8FA7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Line 4"/>
          <p:cNvSpPr/>
          <p:nvPr/>
        </p:nvSpPr>
        <p:spPr>
          <a:xfrm>
            <a:off x="10572750" y="952500"/>
            <a:ext cx="666750" cy="476250"/>
          </a:xfrm>
          <a:custGeom>
            <a:avLst/>
            <a:gdLst/>
            <a:ahLst/>
            <a:cxnLst/>
            <a:rect l="l" t="t" r="r" b="b"/>
            <a:pathLst>
              <a:path w="666750" h="476250">
                <a:moveTo>
                  <a:pt x="0" y="0"/>
                </a:moveTo>
                <a:lnTo>
                  <a:pt x="666750" y="476250"/>
                </a:lnTo>
              </a:path>
            </a:pathLst>
          </a:custGeom>
          <a:noFill/>
          <a:ln w="14288">
            <a:solidFill>
              <a:srgbClr val="6B8FA7">
                <a:alpha val="35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Line 5"/>
          <p:cNvSpPr/>
          <p:nvPr/>
        </p:nvSpPr>
        <p:spPr>
          <a:xfrm>
            <a:off x="10572750" y="571500"/>
            <a:ext cx="571500" cy="381000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381000"/>
                </a:moveTo>
                <a:lnTo>
                  <a:pt x="571500" y="0"/>
                </a:lnTo>
              </a:path>
            </a:pathLst>
          </a:custGeom>
          <a:noFill/>
          <a:ln w="14288">
            <a:solidFill>
              <a:srgbClr val="9BB89A">
                <a:alpha val="30000"/>
              </a:srgbClr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Ellipse 6"/>
          <p:cNvSpPr/>
          <p:nvPr/>
        </p:nvSpPr>
        <p:spPr>
          <a:xfrm>
            <a:off x="9848850" y="1181100"/>
            <a:ext cx="114300" cy="114300"/>
          </a:xfrm>
          <a:prstGeom prst="ellipse">
            <a:avLst/>
          </a:prstGeom>
          <a:solidFill>
            <a:srgbClr val="6B8FA7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Ellipse 7"/>
          <p:cNvSpPr/>
          <p:nvPr/>
        </p:nvSpPr>
        <p:spPr>
          <a:xfrm>
            <a:off x="10506075" y="885825"/>
            <a:ext cx="133350" cy="133350"/>
          </a:xfrm>
          <a:prstGeom prst="ellipse">
            <a:avLst/>
          </a:prstGeom>
          <a:solidFill>
            <a:srgbClr val="9BB89A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Ellipse 8"/>
          <p:cNvSpPr/>
          <p:nvPr/>
        </p:nvSpPr>
        <p:spPr>
          <a:xfrm>
            <a:off x="11182350" y="1371600"/>
            <a:ext cx="114300" cy="114300"/>
          </a:xfrm>
          <a:prstGeom prst="ellipse">
            <a:avLst/>
          </a:prstGeom>
          <a:solidFill>
            <a:srgbClr val="6B8FA7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Ellipse 9"/>
          <p:cNvSpPr/>
          <p:nvPr/>
        </p:nvSpPr>
        <p:spPr>
          <a:xfrm>
            <a:off x="11096625" y="523875"/>
            <a:ext cx="95250" cy="95250"/>
          </a:xfrm>
          <a:prstGeom prst="ellipse">
            <a:avLst/>
          </a:prstGeom>
          <a:solidFill>
            <a:srgbClr val="F2CDB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1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ectangle 11"/>
          <p:cNvSpPr/>
          <p:nvPr/>
        </p:nvSpPr>
        <p:spPr>
          <a:xfrm>
            <a:off x="952500" y="1962150"/>
            <a:ext cx="76200" cy="150495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219200" y="1647825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期末專題報告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2099310"/>
            <a:ext cx="5581364" cy="90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4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TDCS 國道車流資料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5860" y="2766060"/>
            <a:ext cx="3584715" cy="906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4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下載清洗</a:t>
            </a:r>
            <a:r>
              <a:rPr lang="zh-CN" sz="4200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CLI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440" y="3539490"/>
            <a:ext cx="5566410" cy="388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1800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把一次性手工流程，做成人人可重現的雲端工具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257300" y="4152900"/>
            <a:ext cx="9677400" cy="9525"/>
          </a:xfrm>
          <a:prstGeom prst="rect">
            <a:avLst/>
          </a:prstGeom>
          <a:solidFill>
            <a:srgbClr val="3A55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242060" y="4632960"/>
            <a:ext cx="381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課程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250" y="4886325"/>
            <a:ext cx="197034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大數據資料處理 3A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060" y="5204460"/>
            <a:ext cx="13098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授課教授 王經篤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476750" y="4629150"/>
            <a:ext cx="9525" cy="819150"/>
          </a:xfrm>
          <a:prstGeom prst="rect">
            <a:avLst/>
          </a:prstGeom>
          <a:solidFill>
            <a:srgbClr val="3A55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842510" y="4632960"/>
            <a:ext cx="381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組別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38700" y="4886325"/>
            <a:ext cx="83169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第 17 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43462" y="5212556"/>
            <a:ext cx="256710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辛弈序 ‧ 謝秉宏 ‧ 陳睿綸 ‧ 謝晴如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858250" y="4629150"/>
            <a:ext cx="9525" cy="819150"/>
          </a:xfrm>
          <a:prstGeom prst="rect">
            <a:avLst/>
          </a:prstGeom>
          <a:solidFill>
            <a:srgbClr val="3A55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9224010" y="4632960"/>
            <a:ext cx="7315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繳交日期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20200" y="4886325"/>
            <a:ext cx="152178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2026 / 06 / 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1022" y="6578441"/>
            <a:ext cx="343688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國道車流資料下載清洗 CLI ‧ 大數據資料處理 3A ‧ 第 17 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4236053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核心定位：一次苦工、雲端共享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462314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期中我們手工跑完麻豆段一次；期末把它變成一行指令、人人可重現的下載清洗工具。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95450"/>
            <a:ext cx="3429000" cy="4476750"/>
          </a:xfrm>
          <a:custGeom>
            <a:avLst/>
            <a:gdLst/>
            <a:ahLst/>
            <a:cxnLst/>
            <a:rect l="l" t="t" r="r" b="b"/>
            <a:pathLst>
              <a:path w="3429000" h="4476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362450"/>
                </a:lnTo>
                <a:cubicBezTo>
                  <a:pt x="3429000" y="4425576"/>
                  <a:pt x="3377826" y="4476750"/>
                  <a:pt x="33147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6954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Ellipse 10"/>
          <p:cNvSpPr/>
          <p:nvPr/>
        </p:nvSpPr>
        <p:spPr>
          <a:xfrm>
            <a:off x="762000" y="2076450"/>
            <a:ext cx="571500" cy="5715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876300" y="2212181"/>
            <a:ext cx="342900" cy="300038"/>
            <a:chOff x="876300" y="2212181"/>
            <a:chExt cx="342900" cy="300038"/>
          </a:xfrm>
        </p:grpSpPr>
        <p:sp>
          <p:nvSpPr>
            <p:cNvPr id="11" name="Freeform 11"/>
            <p:cNvSpPr/>
            <p:nvPr/>
          </p:nvSpPr>
          <p:spPr>
            <a:xfrm>
              <a:off x="940594" y="2212181"/>
              <a:ext cx="107156" cy="107156"/>
            </a:xfrm>
            <a:custGeom>
              <a:avLst/>
              <a:gdLst/>
              <a:ahLst/>
              <a:cxnLst/>
              <a:rect l="l" t="t" r="r" b="b"/>
              <a:pathLst>
                <a:path w="107156" h="107156">
                  <a:moveTo>
                    <a:pt x="107156" y="53578"/>
                  </a:moveTo>
                  <a:cubicBezTo>
                    <a:pt x="107156" y="83168"/>
                    <a:pt x="83168" y="107156"/>
                    <a:pt x="53578" y="107156"/>
                  </a:cubicBezTo>
                  <a:cubicBezTo>
                    <a:pt x="23988" y="107156"/>
                    <a:pt x="0" y="83168"/>
                    <a:pt x="0" y="53578"/>
                  </a:cubicBezTo>
                  <a:cubicBezTo>
                    <a:pt x="0" y="23988"/>
                    <a:pt x="23988" y="0"/>
                    <a:pt x="53578" y="0"/>
                  </a:cubicBezTo>
                  <a:cubicBezTo>
                    <a:pt x="83168" y="0"/>
                    <a:pt x="107156" y="23988"/>
                    <a:pt x="107156" y="53578"/>
                  </a:cubicBez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300" y="2362200"/>
              <a:ext cx="171450" cy="150019"/>
            </a:xfrm>
            <a:custGeom>
              <a:avLst/>
              <a:gdLst/>
              <a:ahLst/>
              <a:cxnLst/>
              <a:rect l="l" t="t" r="r" b="b"/>
              <a:pathLst>
                <a:path w="171450" h="150019">
                  <a:moveTo>
                    <a:pt x="64294" y="0"/>
                  </a:moveTo>
                  <a:cubicBezTo>
                    <a:pt x="28785" y="0"/>
                    <a:pt x="0" y="28785"/>
                    <a:pt x="0" y="64294"/>
                  </a:cubicBezTo>
                  <a:lnTo>
                    <a:pt x="0" y="150019"/>
                  </a:lnTo>
                  <a:lnTo>
                    <a:pt x="171450" y="150019"/>
                  </a:lnTo>
                  <a:lnTo>
                    <a:pt x="171450" y="0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90612" y="2362200"/>
              <a:ext cx="128588" cy="150019"/>
            </a:xfrm>
            <a:custGeom>
              <a:avLst/>
              <a:gdLst/>
              <a:ahLst/>
              <a:cxnLst/>
              <a:rect l="l" t="t" r="r" b="b"/>
              <a:pathLst>
                <a:path w="128588" h="150019">
                  <a:moveTo>
                    <a:pt x="64294" y="0"/>
                  </a:moveTo>
                  <a:lnTo>
                    <a:pt x="0" y="0"/>
                  </a:lnTo>
                  <a:lnTo>
                    <a:pt x="0" y="150019"/>
                  </a:lnTo>
                  <a:lnTo>
                    <a:pt x="128588" y="150019"/>
                  </a:lnTo>
                  <a:lnTo>
                    <a:pt x="128588" y="64294"/>
                  </a:lnTo>
                  <a:cubicBezTo>
                    <a:pt x="128588" y="28785"/>
                    <a:pt x="99803" y="0"/>
                    <a:pt x="64294" y="0"/>
                  </a:cubicBez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90612" y="22336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85725"/>
                  </a:moveTo>
                  <a:cubicBezTo>
                    <a:pt x="66535" y="85725"/>
                    <a:pt x="85725" y="66535"/>
                    <a:pt x="85725" y="42862"/>
                  </a:cubicBezTo>
                  <a:cubicBezTo>
                    <a:pt x="85725" y="19190"/>
                    <a:pt x="66535" y="0"/>
                    <a:pt x="42862" y="0"/>
                  </a:cubicBezTo>
                  <a:cubicBezTo>
                    <a:pt x="19190" y="0"/>
                    <a:pt x="0" y="19190"/>
                    <a:pt x="0" y="42862"/>
                  </a:cubicBezTo>
                  <a:cubicBezTo>
                    <a:pt x="0" y="66535"/>
                    <a:pt x="19190" y="85725"/>
                    <a:pt x="42862" y="85725"/>
                  </a:cubicBez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03045" y="2279332"/>
            <a:ext cx="547973" cy="356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6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痛點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060" y="2899410"/>
            <a:ext cx="174802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每個要分析 TDCS 國道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1060" y="3166110"/>
            <a:ext cx="1783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車流的人，都得自己寫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1060" y="3432810"/>
            <a:ext cx="16078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程式下載原始資料、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1060" y="3699510"/>
            <a:ext cx="1783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自己寫程式清洗髒資料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1060" y="3966210"/>
            <a:ext cx="16253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——重複的前置苦工。</a:t>
            </a:r>
          </a:p>
        </p:txBody>
      </p:sp>
      <p:sp>
        <p:nvSpPr>
          <p:cNvPr id="22" name="Freeform 22"/>
          <p:cNvSpPr/>
          <p:nvPr/>
        </p:nvSpPr>
        <p:spPr>
          <a:xfrm>
            <a:off x="4381500" y="1695450"/>
            <a:ext cx="3429000" cy="4476750"/>
          </a:xfrm>
          <a:custGeom>
            <a:avLst/>
            <a:gdLst/>
            <a:ahLst/>
            <a:cxnLst/>
            <a:rect l="l" t="t" r="r" b="b"/>
            <a:pathLst>
              <a:path w="3429000" h="4476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362450"/>
                </a:lnTo>
                <a:cubicBezTo>
                  <a:pt x="3429000" y="4425576"/>
                  <a:pt x="3377826" y="4476750"/>
                  <a:pt x="33147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3"/>
          <p:cNvSpPr/>
          <p:nvPr/>
        </p:nvSpPr>
        <p:spPr>
          <a:xfrm>
            <a:off x="4381500" y="16954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Ellipse 24"/>
          <p:cNvSpPr/>
          <p:nvPr/>
        </p:nvSpPr>
        <p:spPr>
          <a:xfrm>
            <a:off x="4572000" y="2076450"/>
            <a:ext cx="571500" cy="5715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4703289" y="2239890"/>
            <a:ext cx="304482" cy="272328"/>
            <a:chOff x="4703289" y="2239890"/>
            <a:chExt cx="304482" cy="272328"/>
          </a:xfrm>
        </p:grpSpPr>
        <p:sp>
          <p:nvSpPr>
            <p:cNvPr id="25" name="Freeform 25"/>
            <p:cNvSpPr/>
            <p:nvPr/>
          </p:nvSpPr>
          <p:spPr>
            <a:xfrm>
              <a:off x="4703289" y="2239890"/>
              <a:ext cx="152619" cy="244620"/>
            </a:xfrm>
            <a:custGeom>
              <a:avLst/>
              <a:gdLst/>
              <a:ahLst/>
              <a:cxnLst/>
              <a:rect l="l" t="t" r="r" b="b"/>
              <a:pathLst>
                <a:path w="152619" h="244620">
                  <a:moveTo>
                    <a:pt x="0" y="214312"/>
                  </a:moveTo>
                  <a:lnTo>
                    <a:pt x="92002" y="122311"/>
                  </a:lnTo>
                  <a:lnTo>
                    <a:pt x="0" y="30308"/>
                  </a:lnTo>
                  <a:lnTo>
                    <a:pt x="30308" y="0"/>
                  </a:lnTo>
                  <a:lnTo>
                    <a:pt x="152619" y="122311"/>
                  </a:lnTo>
                  <a:lnTo>
                    <a:pt x="30308" y="244620"/>
                  </a:lnTo>
                  <a:lnTo>
                    <a:pt x="0" y="214312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836320" y="2469356"/>
              <a:ext cx="171451" cy="42862"/>
            </a:xfrm>
            <a:custGeom>
              <a:avLst/>
              <a:gdLst/>
              <a:ahLst/>
              <a:cxnLst/>
              <a:rect l="l" t="t" r="r" b="b"/>
              <a:pathLst>
                <a:path w="171451" h="42862">
                  <a:moveTo>
                    <a:pt x="0" y="42862"/>
                  </a:moveTo>
                  <a:lnTo>
                    <a:pt x="171451" y="42862"/>
                  </a:lnTo>
                  <a:lnTo>
                    <a:pt x="171451" y="0"/>
                  </a:lnTo>
                  <a:lnTo>
                    <a:pt x="0" y="0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313045" y="2279332"/>
            <a:ext cx="1054036" cy="356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6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我們做的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71060" y="2899410"/>
            <a:ext cx="14325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一支命令列工具：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71060" y="3166110"/>
            <a:ext cx="17042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wizard 五步收參數，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71060" y="3432810"/>
            <a:ext cx="11258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後端用 AWS——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71060" y="3699510"/>
            <a:ext cx="19933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Lambda 清洗、S3 儲存、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71060" y="3966210"/>
            <a:ext cx="17918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Athena 用 SQL 查詢。</a:t>
            </a:r>
          </a:p>
        </p:txBody>
      </p:sp>
      <p:sp>
        <p:nvSpPr>
          <p:cNvPr id="34" name="Freeform 34"/>
          <p:cNvSpPr/>
          <p:nvPr/>
        </p:nvSpPr>
        <p:spPr>
          <a:xfrm>
            <a:off x="8191500" y="1695450"/>
            <a:ext cx="3429000" cy="4476750"/>
          </a:xfrm>
          <a:custGeom>
            <a:avLst/>
            <a:gdLst/>
            <a:ahLst/>
            <a:cxnLst/>
            <a:rect l="l" t="t" r="r" b="b"/>
            <a:pathLst>
              <a:path w="3429000" h="4476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362450"/>
                </a:lnTo>
                <a:cubicBezTo>
                  <a:pt x="3429000" y="4425576"/>
                  <a:pt x="3377826" y="4476750"/>
                  <a:pt x="33147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35"/>
          <p:cNvSpPr/>
          <p:nvPr/>
        </p:nvSpPr>
        <p:spPr>
          <a:xfrm>
            <a:off x="8191500" y="16954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Ellipse 36"/>
          <p:cNvSpPr/>
          <p:nvPr/>
        </p:nvSpPr>
        <p:spPr>
          <a:xfrm>
            <a:off x="8382000" y="2076450"/>
            <a:ext cx="571500" cy="5715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Freeform 37"/>
          <p:cNvSpPr/>
          <p:nvPr/>
        </p:nvSpPr>
        <p:spPr>
          <a:xfrm>
            <a:off x="8496300" y="2233612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257175">
                <a:moveTo>
                  <a:pt x="257175" y="85725"/>
                </a:moveTo>
                <a:cubicBezTo>
                  <a:pt x="257175" y="38380"/>
                  <a:pt x="218794" y="0"/>
                  <a:pt x="171450" y="0"/>
                </a:cubicBezTo>
                <a:cubicBezTo>
                  <a:pt x="124105" y="0"/>
                  <a:pt x="85725" y="38380"/>
                  <a:pt x="85725" y="85725"/>
                </a:cubicBezTo>
                <a:cubicBezTo>
                  <a:pt x="38380" y="85725"/>
                  <a:pt x="0" y="124105"/>
                  <a:pt x="0" y="171450"/>
                </a:cubicBezTo>
                <a:lnTo>
                  <a:pt x="0" y="257175"/>
                </a:lnTo>
                <a:lnTo>
                  <a:pt x="342900" y="257175"/>
                </a:lnTo>
                <a:lnTo>
                  <a:pt x="342900" y="192881"/>
                </a:lnTo>
                <a:cubicBezTo>
                  <a:pt x="342900" y="145537"/>
                  <a:pt x="304519" y="107156"/>
                  <a:pt x="257175" y="107156"/>
                </a:cubicBezTo>
                <a:lnTo>
                  <a:pt x="257175" y="85725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9123045" y="2279332"/>
            <a:ext cx="547973" cy="3562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6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價值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81060" y="2899410"/>
            <a:ext cx="16078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上游苦工只做一次、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81060" y="3166110"/>
            <a:ext cx="16078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雲端共享。大資料的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81060" y="3432810"/>
            <a:ext cx="1783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存儲與清洗交給雲端，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81060" y="3699510"/>
            <a:ext cx="16078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本機只負責發任務、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81060" y="3966210"/>
            <a:ext cx="10820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拿輕量結果。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4535091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從「跑過一次」到「人人可重現」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5702594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不是把舊流程跑快，而是讓它可重現、可通用、可審計、可傳承。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38300"/>
            <a:ext cx="5143500" cy="4533900"/>
          </a:xfrm>
          <a:custGeom>
            <a:avLst/>
            <a:gdLst/>
            <a:ahLst/>
            <a:cxnLst/>
            <a:rect l="l" t="t" r="r" b="b"/>
            <a:pathLst>
              <a:path w="5143500" h="45339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419600"/>
                </a:lnTo>
                <a:cubicBezTo>
                  <a:pt x="5143500" y="4482726"/>
                  <a:pt x="5092326" y="4533900"/>
                  <a:pt x="5029200" y="4533900"/>
                </a:cubicBezTo>
                <a:lnTo>
                  <a:pt x="114300" y="4533900"/>
                </a:lnTo>
                <a:cubicBezTo>
                  <a:pt x="51174" y="4533900"/>
                  <a:pt x="0" y="4482726"/>
                  <a:pt x="0" y="4419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638300"/>
            <a:ext cx="5143500" cy="57150"/>
          </a:xfrm>
          <a:custGeom>
            <a:avLst/>
            <a:gdLst/>
            <a:ahLst/>
            <a:cxnLst/>
            <a:rect l="l" t="t" r="r" b="b"/>
            <a:pathLst>
              <a:path w="5143500" h="57150">
                <a:moveTo>
                  <a:pt x="28575" y="0"/>
                </a:moveTo>
                <a:lnTo>
                  <a:pt x="5114925" y="0"/>
                </a:lnTo>
                <a:cubicBezTo>
                  <a:pt x="5130707" y="0"/>
                  <a:pt x="5143500" y="12793"/>
                  <a:pt x="5143500" y="28575"/>
                </a:cubicBezTo>
                <a:lnTo>
                  <a:pt x="5143500" y="28575"/>
                </a:lnTo>
                <a:cubicBezTo>
                  <a:pt x="5143500" y="44357"/>
                  <a:pt x="5130707" y="57150"/>
                  <a:pt x="5114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35819" y="1905000"/>
            <a:ext cx="214312" cy="285750"/>
            <a:chOff x="835819" y="1905000"/>
            <a:chExt cx="214312" cy="285750"/>
          </a:xfrm>
        </p:grpSpPr>
        <p:sp>
          <p:nvSpPr>
            <p:cNvPr id="10" name="Freeform 10"/>
            <p:cNvSpPr/>
            <p:nvPr/>
          </p:nvSpPr>
          <p:spPr>
            <a:xfrm>
              <a:off x="835819" y="190500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89297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214312" y="285750"/>
                  </a:lnTo>
                  <a:lnTo>
                    <a:pt x="214312" y="125016"/>
                  </a:lnTo>
                  <a:lnTo>
                    <a:pt x="89297" y="125016"/>
                  </a:lnTo>
                  <a:lnTo>
                    <a:pt x="89297" y="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60834" y="1905000"/>
              <a:ext cx="89297" cy="89297"/>
            </a:xfrm>
            <a:custGeom>
              <a:avLst/>
              <a:gdLst/>
              <a:ahLst/>
              <a:cxnLst/>
              <a:rect l="l" t="t" r="r" b="b"/>
              <a:pathLst>
                <a:path w="89297" h="89297">
                  <a:moveTo>
                    <a:pt x="0" y="0"/>
                  </a:moveTo>
                  <a:lnTo>
                    <a:pt x="0" y="89297"/>
                  </a:lnTo>
                  <a:lnTo>
                    <a:pt x="89297" y="89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0148" y="1954054"/>
            <a:ext cx="2491536" cy="340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期中 ‧ 一次性手工流程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4860" y="2556510"/>
            <a:ext cx="22387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Python 腳本 + 硬編碼路徑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860" y="2994660"/>
            <a:ext cx="221246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綁死 2026/03 麻豆 4 匝道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4860" y="3432810"/>
            <a:ext cx="26681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要懂 venv、argparse、pandas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60" y="3870960"/>
            <a:ext cx="21073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清洗結果存本機、無歷史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4860" y="4309110"/>
            <a:ext cx="18794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跨機器重跑要改 5+ 處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0100" y="5295900"/>
            <a:ext cx="4686300" cy="647700"/>
          </a:xfrm>
          <a:custGeom>
            <a:avLst/>
            <a:gdLst/>
            <a:ahLst/>
            <a:cxnLst/>
            <a:rect l="l" t="t" r="r" b="b"/>
            <a:pathLst>
              <a:path w="4686300" h="647700">
                <a:moveTo>
                  <a:pt x="76200" y="0"/>
                </a:moveTo>
                <a:lnTo>
                  <a:pt x="4610100" y="0"/>
                </a:lnTo>
                <a:cubicBezTo>
                  <a:pt x="4652184" y="0"/>
                  <a:pt x="4686300" y="34116"/>
                  <a:pt x="4686300" y="76200"/>
                </a:cubicBezTo>
                <a:lnTo>
                  <a:pt x="4686300" y="571500"/>
                </a:lnTo>
                <a:cubicBezTo>
                  <a:pt x="4686300" y="613584"/>
                  <a:pt x="4652184" y="647700"/>
                  <a:pt x="4610100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976312" y="5460206"/>
            <a:ext cx="1343025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綁定環境與資料，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6312" y="5688806"/>
            <a:ext cx="216455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換人、換月份都要重改程式。</a:t>
            </a:r>
          </a:p>
        </p:txBody>
      </p:sp>
      <p:sp>
        <p:nvSpPr>
          <p:cNvPr id="22" name="Polygon 22"/>
          <p:cNvSpPr/>
          <p:nvPr/>
        </p:nvSpPr>
        <p:spPr>
          <a:xfrm>
            <a:off x="5829300" y="367665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0" y="114300"/>
                </a:moveTo>
                <a:lnTo>
                  <a:pt x="285750" y="114300"/>
                </a:lnTo>
                <a:lnTo>
                  <a:pt x="285750" y="0"/>
                </a:lnTo>
                <a:lnTo>
                  <a:pt x="571500" y="228600"/>
                </a:lnTo>
                <a:lnTo>
                  <a:pt x="285750" y="457200"/>
                </a:lnTo>
                <a:lnTo>
                  <a:pt x="28575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3"/>
          <p:cNvSpPr/>
          <p:nvPr/>
        </p:nvSpPr>
        <p:spPr>
          <a:xfrm>
            <a:off x="6477000" y="1638300"/>
            <a:ext cx="5143500" cy="4533900"/>
          </a:xfrm>
          <a:custGeom>
            <a:avLst/>
            <a:gdLst/>
            <a:ahLst/>
            <a:cxnLst/>
            <a:rect l="l" t="t" r="r" b="b"/>
            <a:pathLst>
              <a:path w="5143500" h="45339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419600"/>
                </a:lnTo>
                <a:cubicBezTo>
                  <a:pt x="5143500" y="4482726"/>
                  <a:pt x="5092326" y="4533900"/>
                  <a:pt x="5029200" y="4533900"/>
                </a:cubicBezTo>
                <a:lnTo>
                  <a:pt x="114300" y="4533900"/>
                </a:lnTo>
                <a:cubicBezTo>
                  <a:pt x="51174" y="4533900"/>
                  <a:pt x="0" y="4482726"/>
                  <a:pt x="0" y="4419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4"/>
          <p:cNvSpPr/>
          <p:nvPr/>
        </p:nvSpPr>
        <p:spPr>
          <a:xfrm>
            <a:off x="6477000" y="1638300"/>
            <a:ext cx="5143500" cy="57150"/>
          </a:xfrm>
          <a:custGeom>
            <a:avLst/>
            <a:gdLst/>
            <a:ahLst/>
            <a:cxnLst/>
            <a:rect l="l" t="t" r="r" b="b"/>
            <a:pathLst>
              <a:path w="5143500" h="57150">
                <a:moveTo>
                  <a:pt x="28575" y="0"/>
                </a:moveTo>
                <a:lnTo>
                  <a:pt x="5114925" y="0"/>
                </a:lnTo>
                <a:cubicBezTo>
                  <a:pt x="5130707" y="0"/>
                  <a:pt x="5143500" y="12793"/>
                  <a:pt x="5143500" y="28575"/>
                </a:cubicBezTo>
                <a:lnTo>
                  <a:pt x="5143500" y="28575"/>
                </a:lnTo>
                <a:cubicBezTo>
                  <a:pt x="5143500" y="44357"/>
                  <a:pt x="5130707" y="57150"/>
                  <a:pt x="5114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6719758" y="1945950"/>
            <a:ext cx="253735" cy="226941"/>
            <a:chOff x="6719758" y="1945950"/>
            <a:chExt cx="253735" cy="226941"/>
          </a:xfrm>
        </p:grpSpPr>
        <p:sp>
          <p:nvSpPr>
            <p:cNvPr id="25" name="Freeform 25"/>
            <p:cNvSpPr/>
            <p:nvPr/>
          </p:nvSpPr>
          <p:spPr>
            <a:xfrm>
              <a:off x="6719758" y="1945950"/>
              <a:ext cx="127182" cy="203850"/>
            </a:xfrm>
            <a:custGeom>
              <a:avLst/>
              <a:gdLst/>
              <a:ahLst/>
              <a:cxnLst/>
              <a:rect l="l" t="t" r="r" b="b"/>
              <a:pathLst>
                <a:path w="127182" h="203850">
                  <a:moveTo>
                    <a:pt x="0" y="178594"/>
                  </a:moveTo>
                  <a:lnTo>
                    <a:pt x="76668" y="101925"/>
                  </a:lnTo>
                  <a:lnTo>
                    <a:pt x="0" y="25257"/>
                  </a:lnTo>
                  <a:lnTo>
                    <a:pt x="25257" y="0"/>
                  </a:lnTo>
                  <a:lnTo>
                    <a:pt x="127182" y="101925"/>
                  </a:lnTo>
                  <a:lnTo>
                    <a:pt x="25257" y="203850"/>
                  </a:lnTo>
                  <a:lnTo>
                    <a:pt x="0" y="178594"/>
                  </a:ln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830617" y="2137172"/>
              <a:ext cx="142876" cy="35719"/>
            </a:xfrm>
            <a:custGeom>
              <a:avLst/>
              <a:gdLst/>
              <a:ahLst/>
              <a:cxnLst/>
              <a:rect l="l" t="t" r="r" b="b"/>
              <a:pathLst>
                <a:path w="142876" h="35719">
                  <a:moveTo>
                    <a:pt x="0" y="35719"/>
                  </a:moveTo>
                  <a:lnTo>
                    <a:pt x="142876" y="35719"/>
                  </a:lnTo>
                  <a:lnTo>
                    <a:pt x="142876" y="0"/>
                  </a:lnTo>
                  <a:lnTo>
                    <a:pt x="0" y="0"/>
                  </a:lnTo>
                  <a:lnTo>
                    <a:pt x="0" y="35719"/>
                  </a:ln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085648" y="1954054"/>
            <a:ext cx="2419077" cy="340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期末 ‧ CLI + AWS 後端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90360" y="2556510"/>
            <a:ext cx="27031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npx tdcs-dl 一鍵、wizard 五步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90360" y="2994660"/>
            <a:ext cx="23000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任意年月 + 339 個門架可選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90360" y="3432810"/>
            <a:ext cx="20897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不需要任何 Python 知識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90360" y="3870960"/>
            <a:ext cx="30099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Athena 可重查、S3 永久存 Parquet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90360" y="4309110"/>
            <a:ext cx="25366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配置進 Terraform、一鍵自架</a:t>
            </a:r>
          </a:p>
        </p:txBody>
      </p:sp>
      <p:sp>
        <p:nvSpPr>
          <p:cNvPr id="34" name="Freeform 34"/>
          <p:cNvSpPr/>
          <p:nvPr/>
        </p:nvSpPr>
        <p:spPr>
          <a:xfrm>
            <a:off x="6705600" y="5295900"/>
            <a:ext cx="4686300" cy="647700"/>
          </a:xfrm>
          <a:custGeom>
            <a:avLst/>
            <a:gdLst/>
            <a:ahLst/>
            <a:cxnLst/>
            <a:rect l="l" t="t" r="r" b="b"/>
            <a:pathLst>
              <a:path w="4686300" h="647700">
                <a:moveTo>
                  <a:pt x="76200" y="0"/>
                </a:moveTo>
                <a:lnTo>
                  <a:pt x="4610100" y="0"/>
                </a:lnTo>
                <a:cubicBezTo>
                  <a:pt x="4652184" y="0"/>
                  <a:pt x="4686300" y="34116"/>
                  <a:pt x="4686300" y="76200"/>
                </a:cubicBezTo>
                <a:lnTo>
                  <a:pt x="4686300" y="571500"/>
                </a:lnTo>
                <a:cubicBezTo>
                  <a:pt x="4686300" y="613584"/>
                  <a:pt x="4652184" y="647700"/>
                  <a:pt x="4610100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6881812" y="5460206"/>
            <a:ext cx="140874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參數化、可重現，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81812" y="5688806"/>
            <a:ext cx="261639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同一套工具未來任意路段都能跑。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5133165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系統架構：重活在雲端、本機只發任務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38150"/>
          </a:xfrm>
          <a:custGeom>
            <a:avLst/>
            <a:gdLst/>
            <a:ahLst/>
            <a:cxnLst/>
            <a:rect l="l" t="t" r="r" b="b"/>
            <a:pathLst>
              <a:path w="11049000" h="4381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81000"/>
                </a:lnTo>
                <a:cubicBezTo>
                  <a:pt x="11049000" y="412563"/>
                  <a:pt x="11023413" y="438150"/>
                  <a:pt x="10991850" y="438150"/>
                </a:cubicBezTo>
                <a:lnTo>
                  <a:pt x="57150" y="438150"/>
                </a:lnTo>
                <a:cubicBezTo>
                  <a:pt x="25587" y="438150"/>
                  <a:pt x="0" y="412563"/>
                  <a:pt x="0" y="3810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3815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57739"/>
            <a:ext cx="9300243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本機（台灣 IP）下載 → 上傳 S3 → API Gateway → SQS → Lambda 清洗 → Glue + Athena 查詢，端到端七步。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504950" y="1409700"/>
            <a:ext cx="9191625" cy="516255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62" y="1419225"/>
            <a:ext cx="9144000" cy="5143500"/>
          </a:xfrm>
          <a:prstGeom prst="rect">
            <a:avLst/>
          </a:prstGeom>
        </p:spPr>
      </p:pic>
      <p:sp>
        <p:nvSpPr>
          <p:cNvPr id="10" name="Rectangle 10"/>
          <p:cNvSpPr/>
          <p:nvPr/>
        </p:nvSpPr>
        <p:spPr>
          <a:xfrm>
            <a:off x="1504950" y="1409700"/>
            <a:ext cx="9191625" cy="5162550"/>
          </a:xfrm>
          <a:prstGeom prst="rect">
            <a:avLst/>
          </a:prstGeom>
          <a:noFill/>
          <a:ln w="14288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561022" y="667369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6500" y="667369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5716288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CLI wizard：跟著終端機五步，不需寫程式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6543349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npx tdcs-dl → 選資料 → 選時間 → 選門架 → 選輸出 → 確認，下載自動開始。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212" y="1631156"/>
            <a:ext cx="103782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① 選資料種類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8478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28" y="1905000"/>
            <a:ext cx="2245995" cy="1638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319588" y="1631156"/>
            <a:ext cx="103782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② 選時間範圍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33875" y="18478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368" y="1905000"/>
            <a:ext cx="2502218" cy="1638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081962" y="1631156"/>
            <a:ext cx="121034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③ 選交流道門架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96250" y="18478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658" y="1905000"/>
            <a:ext cx="2336482" cy="1638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57212" y="3802856"/>
            <a:ext cx="103782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④ 選輸出位置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40195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622" y="4076700"/>
            <a:ext cx="2325052" cy="1638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319588" y="3802856"/>
            <a:ext cx="103782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⑤ 送出前確認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33875" y="40195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5385" y="4076700"/>
            <a:ext cx="2221230" cy="1638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081962" y="3802856"/>
            <a:ext cx="140874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✓ 完成 ‧ 結果摘要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4019550"/>
            <a:ext cx="3524250" cy="1752600"/>
          </a:xfrm>
          <a:prstGeom prst="rect">
            <a:avLst/>
          </a:prstGeom>
          <a:solidFill>
            <a:srgbClr val="16252C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400" y="4081462"/>
            <a:ext cx="3409950" cy="1628775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58165" y="6058852"/>
            <a:ext cx="6291120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全程互動式 TUI（ink 打造），使用者不需碰程式碼、不需設定 AWS 金鑰即可發起清洗任務。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7121764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AWS 配置實證：console live 值 = Terraform 程式碼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716495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所有配置都進版控；2026-06-04 從 console 撈回的 live 值與程式碼逐項一致、零漂移。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7212" y="1612106"/>
            <a:ext cx="1305235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Lambda cleaner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8" y="1866900"/>
            <a:ext cx="3115628" cy="13906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60070" y="3408045"/>
            <a:ext cx="2566321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2048 MB ‧ 900 s ‧ trigger = API GW + SQS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19588" y="1612106"/>
            <a:ext cx="126210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SQS clean-jobs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33875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25" y="1895475"/>
            <a:ext cx="3409950" cy="1334452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322445" y="3408045"/>
            <a:ext cx="2684621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visibility 920 s ‧ DLQ maxReceiveCount =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1962" y="1612106"/>
            <a:ext cx="102057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API Gateway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96250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030" y="1866900"/>
            <a:ext cx="3235642" cy="13906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084820" y="3408045"/>
            <a:ext cx="1843373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POST /clean ‧ GET /jobs/{id}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7212" y="3764756"/>
            <a:ext cx="146913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Glue Data Catalog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6240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230" y="4019550"/>
            <a:ext cx="2511742" cy="13906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60070" y="5560695"/>
            <a:ext cx="2290286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9 欄 snake_case + partition yyyymm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19588" y="3764756"/>
            <a:ext cx="1538139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Athena workgroup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33875" y="396240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4019550"/>
            <a:ext cx="2818448" cy="13906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322445" y="5560695"/>
            <a:ext cx="2027396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scan cap 10 MB ‧ enforce = true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81962" y="3764756"/>
            <a:ext cx="1615773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S3 bucket 112021024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396240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5798" y="4019550"/>
            <a:ext cx="3144202" cy="139065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084820" y="5560695"/>
            <a:ext cx="2645188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raw / cleaned_v2 / jobs / athena-results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8165" y="6001702"/>
            <a:ext cx="6582489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老師關注的 AWS 設置與搭配，全部以 Terraform 宣告、可在任意帳號 terraform apply 重建。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6419026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重點① SQS broker：把「觸發」與「執行」拆開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960901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API Gateway 卡死 30 秒、單月清洗要 847 秒——導入 SQS 佇列，秒回追蹤碼、背景慢慢清。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5811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91678" y="39291"/>
                </a:moveTo>
                <a:lnTo>
                  <a:pt x="91678" y="110200"/>
                </a:lnTo>
                <a:lnTo>
                  <a:pt x="134805" y="153326"/>
                </a:lnTo>
                <a:lnTo>
                  <a:pt x="153326" y="134805"/>
                </a:lnTo>
                <a:lnTo>
                  <a:pt x="117872" y="99350"/>
                </a:lnTo>
                <a:lnTo>
                  <a:pt x="117872" y="39291"/>
                </a:lnTo>
                <a:lnTo>
                  <a:pt x="91678" y="39291"/>
                </a:ln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39152" y="1598771"/>
            <a:ext cx="2789639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30 秒 vs 847 秒 — 28 倍鴻溝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2462" y="2050256"/>
            <a:ext cx="1679853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API Gateway 整合上限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619500" y="2019300"/>
            <a:ext cx="257175" cy="247650"/>
          </a:xfrm>
          <a:prstGeom prst="rect">
            <a:avLst/>
          </a:pr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957638" y="2078831"/>
            <a:ext cx="193493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30 秒（第 30 秒回 504）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2462" y="2526506"/>
            <a:ext cx="1343025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單月實際清洗時間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619500" y="2495550"/>
            <a:ext cx="7239000" cy="247650"/>
          </a:xfrm>
          <a:prstGeom prst="rect">
            <a:avLst/>
          </a:pr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9153138" y="2555081"/>
            <a:ext cx="1624399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847 秒（14 分 7 秒）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07118" y="2923699"/>
            <a:ext cx="6304550" cy="210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97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同步等清洗跑完才回應，第 30 秒就被 API Gateway 回 504——這是服務硬上限，不是調參數能補的。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448050"/>
            <a:ext cx="5286375" cy="1981200"/>
          </a:xfrm>
          <a:custGeom>
            <a:avLst/>
            <a:gdLst/>
            <a:ahLst/>
            <a:cxnLst/>
            <a:rect l="l" t="t" r="r" b="b"/>
            <a:pathLst>
              <a:path w="5286375" h="198120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1866900"/>
                </a:lnTo>
                <a:cubicBezTo>
                  <a:pt x="5286375" y="1930026"/>
                  <a:pt x="5235201" y="1981200"/>
                  <a:pt x="5172075" y="1981200"/>
                </a:cubicBezTo>
                <a:lnTo>
                  <a:pt x="114300" y="1981200"/>
                </a:lnTo>
                <a:cubicBezTo>
                  <a:pt x="51174" y="1981200"/>
                  <a:pt x="0" y="1930026"/>
                  <a:pt x="0" y="1866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Rectangle 18"/>
          <p:cNvSpPr/>
          <p:nvPr/>
        </p:nvSpPr>
        <p:spPr>
          <a:xfrm>
            <a:off x="571500" y="3448050"/>
            <a:ext cx="57150" cy="1981200"/>
          </a:xfrm>
          <a:prstGeom prst="rect">
            <a:avLst/>
          </a:pr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01052" y="3637121"/>
            <a:ext cx="3008166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6B8FA7"/>
                </a:solidFill>
                <a:latin typeface="Segoe UI"/>
                <a:ea typeface="Microsoft YaHei"/>
                <a:cs typeface="Segoe UI"/>
              </a:rPr>
              <a:t>Producer ‧ API Gateway 路徑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3910" y="4042410"/>
            <a:ext cx="20897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1 寫入 status = accepted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3910" y="4328160"/>
            <a:ext cx="18356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2 把任務送進 SQS 佇列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3910" y="4613910"/>
            <a:ext cx="17392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3 立刻回 202 + job_id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5815" y="5030152"/>
            <a:ext cx="1870350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秒回（&lt; 1 秒）、不等清洗</a:t>
            </a:r>
          </a:p>
        </p:txBody>
      </p:sp>
      <p:sp>
        <p:nvSpPr>
          <p:cNvPr id="24" name="Polygon 24"/>
          <p:cNvSpPr/>
          <p:nvPr/>
        </p:nvSpPr>
        <p:spPr>
          <a:xfrm>
            <a:off x="5924550" y="4210050"/>
            <a:ext cx="476250" cy="533400"/>
          </a:xfrm>
          <a:custGeom>
            <a:avLst/>
            <a:gdLst/>
            <a:ahLst/>
            <a:cxnLst/>
            <a:rect l="l" t="t" r="r" b="b"/>
            <a:pathLst>
              <a:path w="476250" h="533400">
                <a:moveTo>
                  <a:pt x="0" y="95250"/>
                </a:moveTo>
                <a:lnTo>
                  <a:pt x="247650" y="95250"/>
                </a:lnTo>
                <a:lnTo>
                  <a:pt x="247650" y="0"/>
                </a:lnTo>
                <a:lnTo>
                  <a:pt x="476250" y="266700"/>
                </a:lnTo>
                <a:lnTo>
                  <a:pt x="247650" y="533400"/>
                </a:lnTo>
                <a:lnTo>
                  <a:pt x="2476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Freeform 25"/>
          <p:cNvSpPr/>
          <p:nvPr/>
        </p:nvSpPr>
        <p:spPr>
          <a:xfrm>
            <a:off x="6524625" y="3448050"/>
            <a:ext cx="5095875" cy="1981200"/>
          </a:xfrm>
          <a:custGeom>
            <a:avLst/>
            <a:gdLst/>
            <a:ahLst/>
            <a:cxnLst/>
            <a:rect l="l" t="t" r="r" b="b"/>
            <a:pathLst>
              <a:path w="5095875" h="1981200">
                <a:moveTo>
                  <a:pt x="114300" y="0"/>
                </a:moveTo>
                <a:lnTo>
                  <a:pt x="4981575" y="0"/>
                </a:lnTo>
                <a:cubicBezTo>
                  <a:pt x="5044701" y="0"/>
                  <a:pt x="5095875" y="51174"/>
                  <a:pt x="5095875" y="114300"/>
                </a:cubicBezTo>
                <a:lnTo>
                  <a:pt x="5095875" y="1866900"/>
                </a:lnTo>
                <a:cubicBezTo>
                  <a:pt x="5095875" y="1930026"/>
                  <a:pt x="5044701" y="1981200"/>
                  <a:pt x="4981575" y="1981200"/>
                </a:cubicBezTo>
                <a:lnTo>
                  <a:pt x="114300" y="1981200"/>
                </a:lnTo>
                <a:cubicBezTo>
                  <a:pt x="51174" y="1981200"/>
                  <a:pt x="0" y="1930026"/>
                  <a:pt x="0" y="1866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Rectangle 26"/>
          <p:cNvSpPr/>
          <p:nvPr/>
        </p:nvSpPr>
        <p:spPr>
          <a:xfrm>
            <a:off x="6524625" y="3448050"/>
            <a:ext cx="57150" cy="19812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0" y="3600450"/>
            <a:ext cx="381000" cy="381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754178" y="3637121"/>
            <a:ext cx="2636670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Consumer ‧ SQS 事件路徑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7035" y="4042410"/>
            <a:ext cx="25279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背景執行真清洗（5–14 分鐘）：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57035" y="4328160"/>
            <a:ext cx="18444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list → clean → Parquet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035" y="4613910"/>
            <a:ext cx="2711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→ Athena REPAIR → status = done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8940" y="5030152"/>
            <a:ext cx="2771680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CLI 每 5 秒查 GET /jobs/{id} 直到 done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5638800"/>
            <a:ext cx="11049000" cy="533400"/>
          </a:xfrm>
          <a:custGeom>
            <a:avLst/>
            <a:gdLst/>
            <a:ahLst/>
            <a:cxnLst/>
            <a:rect l="l" t="t" r="r" b="b"/>
            <a:pathLst>
              <a:path w="11049000" h="5334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57200"/>
                </a:lnTo>
                <a:cubicBezTo>
                  <a:pt x="11049000" y="499284"/>
                  <a:pt x="11014884" y="533400"/>
                  <a:pt x="10972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Freeform 34"/>
          <p:cNvSpPr/>
          <p:nvPr/>
        </p:nvSpPr>
        <p:spPr>
          <a:xfrm>
            <a:off x="759619" y="5772150"/>
            <a:ext cx="233362" cy="266700"/>
          </a:xfrm>
          <a:custGeom>
            <a:avLst/>
            <a:gdLst/>
            <a:ahLst/>
            <a:cxnLst/>
            <a:rect l="l" t="t" r="r" b="b"/>
            <a:pathLst>
              <a:path w="233362" h="266700">
                <a:moveTo>
                  <a:pt x="116681" y="266700"/>
                </a:moveTo>
                <a:lnTo>
                  <a:pt x="55842" y="223243"/>
                </a:lnTo>
                <a:cubicBezTo>
                  <a:pt x="20798" y="198211"/>
                  <a:pt x="0" y="157798"/>
                  <a:pt x="0" y="114732"/>
                </a:cubicBezTo>
                <a:lnTo>
                  <a:pt x="0" y="50006"/>
                </a:lnTo>
                <a:lnTo>
                  <a:pt x="116681" y="0"/>
                </a:lnTo>
                <a:lnTo>
                  <a:pt x="233362" y="50006"/>
                </a:lnTo>
                <a:lnTo>
                  <a:pt x="233362" y="114732"/>
                </a:lnTo>
                <a:cubicBezTo>
                  <a:pt x="233362" y="157798"/>
                  <a:pt x="212565" y="198211"/>
                  <a:pt x="177521" y="223243"/>
                </a:cubicBezTo>
                <a:lnTo>
                  <a:pt x="116681" y="266700"/>
                </a:lnTo>
                <a:close/>
                <a:moveTo>
                  <a:pt x="186808" y="95130"/>
                </a:moveTo>
                <a:lnTo>
                  <a:pt x="163235" y="71557"/>
                </a:lnTo>
                <a:lnTo>
                  <a:pt x="100012" y="134780"/>
                </a:lnTo>
                <a:lnTo>
                  <a:pt x="70127" y="104895"/>
                </a:lnTo>
                <a:lnTo>
                  <a:pt x="46554" y="128468"/>
                </a:lnTo>
                <a:lnTo>
                  <a:pt x="100012" y="181926"/>
                </a:lnTo>
                <a:lnTo>
                  <a:pt x="186808" y="95130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1109662" y="5841206"/>
            <a:ext cx="5080992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佇列護網（SQS 標配、非自造）：visibility 920s（&gt; Lambda 900s）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9662" y="6031706"/>
            <a:ext cx="688014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‧ DLQ maxReceiveCount = 2（失敗重試 1 次後進死信）‧ batch_size = 1（一任務一 invoke）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7271283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重點② Schema 型別漂移：抓 bug → root cause → 修好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081041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CAST 救不了，因為錯在寫檔不在查詢——寫入前明示型別，順手把檔案縮小 12 倍。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2" y="1866900"/>
            <a:ext cx="3118485" cy="13906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59118" y="3438049"/>
            <a:ext cx="2073171" cy="210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975" b="1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① GROUP BY 噴 HIVE_BAD_DATA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3636645"/>
            <a:ext cx="2079974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Parquet 是 DOUBLE、表定義是 INT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33875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85" y="1866900"/>
            <a:ext cx="3134678" cy="13906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321492" y="3438049"/>
            <a:ext cx="1490048" cy="210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975" b="1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② 改 SQL CAST 仍同錯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22445" y="3636645"/>
            <a:ext cx="1711928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證明 root cause 不在查詢層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0" y="1809750"/>
            <a:ext cx="35242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895475"/>
            <a:ext cx="3409950" cy="1333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8083868" y="3438049"/>
            <a:ext cx="1818989" cy="2105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97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③ 寫入前明示 INT32 → PASS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84820" y="3636645"/>
            <a:ext cx="1974818" cy="1943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39000"/>
              </a:lnSpc>
            </a:pPr>
            <a:r>
              <a:rPr lang="zh-CN" sz="90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5 列正常回傳、1,529,833 通過數</a:t>
            </a:r>
          </a:p>
        </p:txBody>
      </p:sp>
      <p:sp>
        <p:nvSpPr>
          <p:cNvPr id="20" name="Freeform 20"/>
          <p:cNvSpPr/>
          <p:nvPr/>
        </p:nvSpPr>
        <p:spPr>
          <a:xfrm>
            <a:off x="597694" y="4038600"/>
            <a:ext cx="157162" cy="209550"/>
          </a:xfrm>
          <a:custGeom>
            <a:avLst/>
            <a:gdLst/>
            <a:ahLst/>
            <a:cxnLst/>
            <a:rect l="l" t="t" r="r" b="b"/>
            <a:pathLst>
              <a:path w="157162" h="209550">
                <a:moveTo>
                  <a:pt x="39291" y="150614"/>
                </a:moveTo>
                <a:lnTo>
                  <a:pt x="39291" y="189905"/>
                </a:lnTo>
                <a:lnTo>
                  <a:pt x="58936" y="209550"/>
                </a:lnTo>
                <a:lnTo>
                  <a:pt x="98227" y="209550"/>
                </a:lnTo>
                <a:lnTo>
                  <a:pt x="117872" y="189905"/>
                </a:lnTo>
                <a:lnTo>
                  <a:pt x="117872" y="150614"/>
                </a:lnTo>
                <a:lnTo>
                  <a:pt x="134107" y="134379"/>
                </a:lnTo>
                <a:cubicBezTo>
                  <a:pt x="148870" y="119617"/>
                  <a:pt x="157162" y="99555"/>
                  <a:pt x="157162" y="78678"/>
                </a:cubicBezTo>
                <a:cubicBezTo>
                  <a:pt x="157162" y="35278"/>
                  <a:pt x="121980" y="0"/>
                  <a:pt x="78581" y="0"/>
                </a:cubicBezTo>
                <a:cubicBezTo>
                  <a:pt x="35182" y="0"/>
                  <a:pt x="0" y="35278"/>
                  <a:pt x="0" y="78678"/>
                </a:cubicBezTo>
                <a:cubicBezTo>
                  <a:pt x="0" y="99555"/>
                  <a:pt x="8293" y="119617"/>
                  <a:pt x="23056" y="134379"/>
                </a:cubicBezTo>
                <a:lnTo>
                  <a:pt x="39291" y="150614"/>
                </a:lnTo>
                <a:close/>
                <a:moveTo>
                  <a:pt x="65484" y="129318"/>
                </a:moveTo>
                <a:lnTo>
                  <a:pt x="65484" y="78581"/>
                </a:lnTo>
                <a:lnTo>
                  <a:pt x="91678" y="78581"/>
                </a:lnTo>
                <a:lnTo>
                  <a:pt x="91678" y="129318"/>
                </a:lnTo>
                <a:cubicBezTo>
                  <a:pt x="114273" y="123503"/>
                  <a:pt x="130969" y="102992"/>
                  <a:pt x="130969" y="78581"/>
                </a:cubicBezTo>
                <a:cubicBezTo>
                  <a:pt x="130969" y="49648"/>
                  <a:pt x="107514" y="26194"/>
                  <a:pt x="78581" y="26194"/>
                </a:cubicBezTo>
                <a:cubicBezTo>
                  <a:pt x="49648" y="26194"/>
                  <a:pt x="26194" y="49648"/>
                  <a:pt x="26194" y="78581"/>
                </a:cubicBezTo>
                <a:cubicBezTo>
                  <a:pt x="26194" y="102992"/>
                  <a:pt x="42889" y="123503"/>
                  <a:pt x="65484" y="129318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39152" y="4056221"/>
            <a:ext cx="3412442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附帶效益：同一份資料縮小約 12 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2462" y="4564856"/>
            <a:ext cx="176200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修前 Float64 / DOUBLE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048000" y="4533900"/>
            <a:ext cx="7810500" cy="247650"/>
          </a:xfrm>
          <a:prstGeom prst="rect">
            <a:avLst/>
          </a:pr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0032998" y="4593431"/>
            <a:ext cx="744539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903.5 KB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2462" y="5041106"/>
            <a:ext cx="817245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修後 Int32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048000" y="5010150"/>
            <a:ext cx="666750" cy="24765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3795712" y="5069681"/>
            <a:ext cx="1779669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76.7 KB（≈ 12× 更小）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4665" y="5525452"/>
            <a:ext cx="6689836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同一份 14,116 行、9 欄，僅 dtype 不同。明示優於推斷——同一個修正，同時拿到「對」與「省」。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5865807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重點③ Lambda &gt; Glue：對的工具解對的問題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882691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沒有 join、沒有 shuffle——硬上 Spark 是 overkill，純 Lambda 才是這題的 sweet spot。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38300"/>
            <a:ext cx="5286375" cy="3028950"/>
          </a:xfrm>
          <a:custGeom>
            <a:avLst/>
            <a:gdLst/>
            <a:ahLst/>
            <a:cxnLst/>
            <a:rect l="l" t="t" r="r" b="b"/>
            <a:pathLst>
              <a:path w="5286375" h="302895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2914650"/>
                </a:lnTo>
                <a:cubicBezTo>
                  <a:pt x="5286375" y="2977776"/>
                  <a:pt x="5235201" y="3028950"/>
                  <a:pt x="5172075" y="3028950"/>
                </a:cubicBezTo>
                <a:lnTo>
                  <a:pt x="114300" y="3028950"/>
                </a:lnTo>
                <a:cubicBezTo>
                  <a:pt x="51174" y="3028950"/>
                  <a:pt x="0" y="2977776"/>
                  <a:pt x="0" y="2914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638300"/>
            <a:ext cx="5286375" cy="57150"/>
          </a:xfrm>
          <a:custGeom>
            <a:avLst/>
            <a:gdLst/>
            <a:ahLst/>
            <a:cxnLst/>
            <a:rect l="l" t="t" r="r" b="b"/>
            <a:pathLst>
              <a:path w="5286375" h="57150">
                <a:moveTo>
                  <a:pt x="28575" y="0"/>
                </a:moveTo>
                <a:lnTo>
                  <a:pt x="5257800" y="0"/>
                </a:lnTo>
                <a:cubicBezTo>
                  <a:pt x="5273582" y="0"/>
                  <a:pt x="5286375" y="12793"/>
                  <a:pt x="5286375" y="28575"/>
                </a:cubicBezTo>
                <a:lnTo>
                  <a:pt x="5286375" y="28575"/>
                </a:lnTo>
                <a:cubicBezTo>
                  <a:pt x="5286375" y="44357"/>
                  <a:pt x="5273582" y="57150"/>
                  <a:pt x="5257800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DC7DC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817959" y="1905000"/>
            <a:ext cx="250031" cy="285750"/>
            <a:chOff x="817959" y="1905000"/>
            <a:chExt cx="250031" cy="285750"/>
          </a:xfrm>
        </p:grpSpPr>
        <p:sp>
          <p:nvSpPr>
            <p:cNvPr id="10" name="Freeform 10"/>
            <p:cNvSpPr/>
            <p:nvPr/>
          </p:nvSpPr>
          <p:spPr>
            <a:xfrm>
              <a:off x="817959" y="1905000"/>
              <a:ext cx="250031" cy="142875"/>
            </a:xfrm>
            <a:custGeom>
              <a:avLst/>
              <a:gdLst/>
              <a:ahLst/>
              <a:cxnLst/>
              <a:rect l="l" t="t" r="r" b="b"/>
              <a:pathLst>
                <a:path w="250031" h="142875">
                  <a:moveTo>
                    <a:pt x="0" y="89297"/>
                  </a:moveTo>
                  <a:lnTo>
                    <a:pt x="0" y="53578"/>
                  </a:lnTo>
                  <a:lnTo>
                    <a:pt x="125016" y="0"/>
                  </a:lnTo>
                  <a:lnTo>
                    <a:pt x="250031" y="53578"/>
                  </a:lnTo>
                  <a:lnTo>
                    <a:pt x="250031" y="89297"/>
                  </a:lnTo>
                  <a:lnTo>
                    <a:pt x="125016" y="142875"/>
                  </a:lnTo>
                  <a:lnTo>
                    <a:pt x="0" y="89297"/>
                  </a:lnTo>
                  <a:close/>
                </a:path>
              </a:pathLst>
            </a:custGeom>
            <a:solidFill>
              <a:srgbClr val="DDC7DC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17959" y="2101453"/>
              <a:ext cx="250031" cy="89297"/>
            </a:xfrm>
            <a:custGeom>
              <a:avLst/>
              <a:gdLst/>
              <a:ahLst/>
              <a:cxnLst/>
              <a:rect l="l" t="t" r="r" b="b"/>
              <a:pathLst>
                <a:path w="250031" h="89297">
                  <a:moveTo>
                    <a:pt x="125016" y="89297"/>
                  </a:moveTo>
                  <a:lnTo>
                    <a:pt x="0" y="35719"/>
                  </a:lnTo>
                  <a:lnTo>
                    <a:pt x="0" y="0"/>
                  </a:lnTo>
                  <a:lnTo>
                    <a:pt x="125016" y="53578"/>
                  </a:lnTo>
                  <a:lnTo>
                    <a:pt x="250031" y="0"/>
                  </a:lnTo>
                  <a:lnTo>
                    <a:pt x="250031" y="35719"/>
                  </a:lnTo>
                  <a:lnTo>
                    <a:pt x="125016" y="89297"/>
                  </a:lnTo>
                  <a:close/>
                </a:path>
              </a:pathLst>
            </a:custGeom>
            <a:solidFill>
              <a:srgbClr val="DDC7DC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17959" y="2030016"/>
              <a:ext cx="250031" cy="89297"/>
            </a:xfrm>
            <a:custGeom>
              <a:avLst/>
              <a:gdLst/>
              <a:ahLst/>
              <a:cxnLst/>
              <a:rect l="l" t="t" r="r" b="b"/>
              <a:pathLst>
                <a:path w="250031" h="89297">
                  <a:moveTo>
                    <a:pt x="0" y="35719"/>
                  </a:moveTo>
                  <a:lnTo>
                    <a:pt x="125016" y="89297"/>
                  </a:lnTo>
                  <a:lnTo>
                    <a:pt x="250031" y="35719"/>
                  </a:lnTo>
                  <a:lnTo>
                    <a:pt x="250031" y="0"/>
                  </a:lnTo>
                  <a:lnTo>
                    <a:pt x="125016" y="53578"/>
                  </a:lnTo>
                  <a:lnTo>
                    <a:pt x="0" y="0"/>
                  </a:lnTo>
                  <a:lnTo>
                    <a:pt x="0" y="35719"/>
                  </a:lnTo>
                  <a:close/>
                </a:path>
              </a:pathLst>
            </a:custGeom>
            <a:solidFill>
              <a:srgbClr val="DDC7DC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0148" y="1954054"/>
            <a:ext cx="2443230" cy="340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AWS Glue ETL ‧ Spark</a:t>
            </a:r>
          </a:p>
        </p:txBody>
      </p:sp>
      <p:sp>
        <p:nvSpPr>
          <p:cNvPr id="15" name="Freeform 15"/>
          <p:cNvSpPr/>
          <p:nvPr/>
        </p:nvSpPr>
        <p:spPr>
          <a:xfrm>
            <a:off x="4953000" y="1866900"/>
            <a:ext cx="704850" cy="285750"/>
          </a:xfrm>
          <a:custGeom>
            <a:avLst/>
            <a:gdLst/>
            <a:ahLst/>
            <a:cxnLst/>
            <a:rect l="l" t="t" r="r" b="b"/>
            <a:pathLst>
              <a:path w="704850" h="285750">
                <a:moveTo>
                  <a:pt x="142875" y="0"/>
                </a:moveTo>
                <a:lnTo>
                  <a:pt x="561975" y="0"/>
                </a:lnTo>
                <a:cubicBezTo>
                  <a:pt x="640883" y="0"/>
                  <a:pt x="704850" y="63967"/>
                  <a:pt x="704850" y="142875"/>
                </a:cubicBezTo>
                <a:lnTo>
                  <a:pt x="704850" y="142875"/>
                </a:lnTo>
                <a:cubicBezTo>
                  <a:pt x="704850" y="221783"/>
                  <a:pt x="640883" y="285750"/>
                  <a:pt x="5619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3A4A5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5062061" y="1944052"/>
            <a:ext cx="486727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105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未採用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60" y="2537460"/>
            <a:ext cx="25191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常駐 Spark 叢集、企業級批次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4860" y="2937510"/>
            <a:ext cx="27908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擅長跨檔 join / shuffle / 跨節點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4860" y="3337560"/>
            <a:ext cx="21073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教科書的「大數據」招牌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4860" y="3737610"/>
            <a:ext cx="24578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● 對我們：叢集初始化開銷可能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3460" y="4004310"/>
            <a:ext cx="20985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比清洗本身還久 → overkill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1638300"/>
            <a:ext cx="5286375" cy="3028950"/>
          </a:xfrm>
          <a:custGeom>
            <a:avLst/>
            <a:gdLst/>
            <a:ahLst/>
            <a:cxnLst/>
            <a:rect l="l" t="t" r="r" b="b"/>
            <a:pathLst>
              <a:path w="5286375" h="302895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2914650"/>
                </a:lnTo>
                <a:cubicBezTo>
                  <a:pt x="5286375" y="2977776"/>
                  <a:pt x="5235201" y="3028950"/>
                  <a:pt x="5172075" y="3028950"/>
                </a:cubicBezTo>
                <a:lnTo>
                  <a:pt x="114300" y="3028950"/>
                </a:lnTo>
                <a:cubicBezTo>
                  <a:pt x="51174" y="3028950"/>
                  <a:pt x="0" y="2977776"/>
                  <a:pt x="0" y="2914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3"/>
          <p:cNvSpPr/>
          <p:nvPr/>
        </p:nvSpPr>
        <p:spPr>
          <a:xfrm>
            <a:off x="6334125" y="1638300"/>
            <a:ext cx="5286375" cy="57150"/>
          </a:xfrm>
          <a:custGeom>
            <a:avLst/>
            <a:gdLst/>
            <a:ahLst/>
            <a:cxnLst/>
            <a:rect l="l" t="t" r="r" b="b"/>
            <a:pathLst>
              <a:path w="5286375" h="57150">
                <a:moveTo>
                  <a:pt x="28575" y="0"/>
                </a:moveTo>
                <a:lnTo>
                  <a:pt x="5257800" y="0"/>
                </a:lnTo>
                <a:cubicBezTo>
                  <a:pt x="5273582" y="0"/>
                  <a:pt x="5286375" y="12793"/>
                  <a:pt x="5286375" y="28575"/>
                </a:cubicBezTo>
                <a:lnTo>
                  <a:pt x="5286375" y="28575"/>
                </a:lnTo>
                <a:cubicBezTo>
                  <a:pt x="5286375" y="44357"/>
                  <a:pt x="5273582" y="57150"/>
                  <a:pt x="5257800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4"/>
          <p:cNvSpPr/>
          <p:nvPr/>
        </p:nvSpPr>
        <p:spPr>
          <a:xfrm>
            <a:off x="6562725" y="1922859"/>
            <a:ext cx="285750" cy="232172"/>
          </a:xfrm>
          <a:custGeom>
            <a:avLst/>
            <a:gdLst/>
            <a:ahLst/>
            <a:cxnLst/>
            <a:rect l="l" t="t" r="r" b="b"/>
            <a:pathLst>
              <a:path w="285750" h="232172">
                <a:moveTo>
                  <a:pt x="31337" y="232172"/>
                </a:moveTo>
                <a:cubicBezTo>
                  <a:pt x="11729" y="207712"/>
                  <a:pt x="0" y="176663"/>
                  <a:pt x="0" y="142875"/>
                </a:cubicBezTo>
                <a:cubicBezTo>
                  <a:pt x="0" y="63967"/>
                  <a:pt x="63967" y="0"/>
                  <a:pt x="142875" y="0"/>
                </a:cubicBezTo>
                <a:cubicBezTo>
                  <a:pt x="221783" y="0"/>
                  <a:pt x="285750" y="63967"/>
                  <a:pt x="285750" y="142875"/>
                </a:cubicBezTo>
                <a:cubicBezTo>
                  <a:pt x="285750" y="176663"/>
                  <a:pt x="274022" y="207712"/>
                  <a:pt x="254414" y="232172"/>
                </a:cubicBezTo>
                <a:lnTo>
                  <a:pt x="164337" y="232172"/>
                </a:lnTo>
                <a:lnTo>
                  <a:pt x="227427" y="163929"/>
                </a:lnTo>
                <a:lnTo>
                  <a:pt x="201198" y="139681"/>
                </a:lnTo>
                <a:lnTo>
                  <a:pt x="115693" y="232172"/>
                </a:lnTo>
                <a:lnTo>
                  <a:pt x="31337" y="232172"/>
                </a:lnTo>
                <a:close/>
                <a:moveTo>
                  <a:pt x="125016" y="53578"/>
                </a:moveTo>
                <a:cubicBezTo>
                  <a:pt x="125016" y="63442"/>
                  <a:pt x="133011" y="71438"/>
                  <a:pt x="142875" y="71438"/>
                </a:cubicBezTo>
                <a:cubicBezTo>
                  <a:pt x="152738" y="71438"/>
                  <a:pt x="160734" y="63442"/>
                  <a:pt x="160734" y="53578"/>
                </a:cubicBezTo>
                <a:cubicBezTo>
                  <a:pt x="160734" y="43715"/>
                  <a:pt x="152738" y="35719"/>
                  <a:pt x="142875" y="35719"/>
                </a:cubicBezTo>
                <a:cubicBezTo>
                  <a:pt x="133011" y="35719"/>
                  <a:pt x="125016" y="43715"/>
                  <a:pt x="125016" y="53578"/>
                </a:cubicBezTo>
                <a:close/>
                <a:moveTo>
                  <a:pt x="205383" y="98227"/>
                </a:moveTo>
                <a:cubicBezTo>
                  <a:pt x="195519" y="98227"/>
                  <a:pt x="187523" y="90231"/>
                  <a:pt x="187523" y="80367"/>
                </a:cubicBezTo>
                <a:cubicBezTo>
                  <a:pt x="187523" y="70504"/>
                  <a:pt x="195519" y="62508"/>
                  <a:pt x="205383" y="62508"/>
                </a:cubicBezTo>
                <a:cubicBezTo>
                  <a:pt x="215247" y="62508"/>
                  <a:pt x="223242" y="70504"/>
                  <a:pt x="223242" y="80367"/>
                </a:cubicBezTo>
                <a:cubicBezTo>
                  <a:pt x="223242" y="90231"/>
                  <a:pt x="215247" y="98227"/>
                  <a:pt x="205383" y="98227"/>
                </a:cubicBezTo>
                <a:close/>
                <a:moveTo>
                  <a:pt x="35719" y="142875"/>
                </a:moveTo>
                <a:cubicBezTo>
                  <a:pt x="35719" y="152739"/>
                  <a:pt x="43715" y="160734"/>
                  <a:pt x="53578" y="160734"/>
                </a:cubicBezTo>
                <a:cubicBezTo>
                  <a:pt x="63442" y="160734"/>
                  <a:pt x="71438" y="152739"/>
                  <a:pt x="71438" y="142875"/>
                </a:cubicBezTo>
                <a:cubicBezTo>
                  <a:pt x="71438" y="133012"/>
                  <a:pt x="63442" y="125016"/>
                  <a:pt x="53578" y="125016"/>
                </a:cubicBezTo>
                <a:cubicBezTo>
                  <a:pt x="43715" y="125016"/>
                  <a:pt x="35719" y="133012"/>
                  <a:pt x="35719" y="142875"/>
                </a:cubicBezTo>
                <a:close/>
                <a:moveTo>
                  <a:pt x="80367" y="98227"/>
                </a:moveTo>
                <a:cubicBezTo>
                  <a:pt x="70504" y="98227"/>
                  <a:pt x="62508" y="90231"/>
                  <a:pt x="62508" y="80367"/>
                </a:cubicBezTo>
                <a:cubicBezTo>
                  <a:pt x="62508" y="70504"/>
                  <a:pt x="70504" y="62508"/>
                  <a:pt x="80367" y="62508"/>
                </a:cubicBezTo>
                <a:cubicBezTo>
                  <a:pt x="90231" y="62508"/>
                  <a:pt x="98227" y="70504"/>
                  <a:pt x="98227" y="80367"/>
                </a:cubicBezTo>
                <a:cubicBezTo>
                  <a:pt x="98227" y="90231"/>
                  <a:pt x="90231" y="98227"/>
                  <a:pt x="80367" y="98227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6942772" y="1954054"/>
            <a:ext cx="2684761" cy="3400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純 Lambda ‧ 我們的選擇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782300" y="1866900"/>
            <a:ext cx="609600" cy="285750"/>
          </a:xfrm>
          <a:custGeom>
            <a:avLst/>
            <a:gdLst/>
            <a:ahLst/>
            <a:cxnLst/>
            <a:rect l="l" t="t" r="r" b="b"/>
            <a:pathLst>
              <a:path w="609600" h="285750">
                <a:moveTo>
                  <a:pt x="142875" y="0"/>
                </a:moveTo>
                <a:lnTo>
                  <a:pt x="466725" y="0"/>
                </a:lnTo>
                <a:cubicBezTo>
                  <a:pt x="545633" y="0"/>
                  <a:pt x="609600" y="63967"/>
                  <a:pt x="609600" y="142875"/>
                </a:cubicBezTo>
                <a:lnTo>
                  <a:pt x="609600" y="142875"/>
                </a:lnTo>
                <a:cubicBezTo>
                  <a:pt x="609600" y="221783"/>
                  <a:pt x="545633" y="285750"/>
                  <a:pt x="46672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2F5E4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0920412" y="1944052"/>
            <a:ext cx="333375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1050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採用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7485" y="2537460"/>
            <a:ext cx="27645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短任務 &lt; 15 分、簡單 transform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7485" y="2937510"/>
            <a:ext cx="21073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零叢集管理、按呼叫計費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7485" y="3337560"/>
            <a:ext cx="33428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2048 MB、polars、streaming 一次一檔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7485" y="3737610"/>
            <a:ext cx="31413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● 單月 847 秒，落在 900 秒 timeout 內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895850"/>
            <a:ext cx="11049000" cy="1276350"/>
          </a:xfrm>
          <a:custGeom>
            <a:avLst/>
            <a:gdLst/>
            <a:ahLst/>
            <a:cxnLst/>
            <a:rect l="l" t="t" r="r" b="b"/>
            <a:pathLst>
              <a:path w="11049000" h="12763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1181100"/>
                </a:lnTo>
                <a:cubicBezTo>
                  <a:pt x="11049000" y="1233705"/>
                  <a:pt x="11006355" y="1276350"/>
                  <a:pt x="10953750" y="1276350"/>
                </a:cubicBezTo>
                <a:lnTo>
                  <a:pt x="95250" y="1276350"/>
                </a:lnTo>
                <a:cubicBezTo>
                  <a:pt x="42645" y="1276350"/>
                  <a:pt x="0" y="1233705"/>
                  <a:pt x="0" y="1181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37" name="Group 37"/>
          <p:cNvGrpSpPr/>
          <p:nvPr/>
        </p:nvGrpSpPr>
        <p:grpSpPr>
          <a:xfrm>
            <a:off x="800100" y="5120878"/>
            <a:ext cx="247650" cy="216694"/>
            <a:chOff x="800100" y="5120878"/>
            <a:chExt cx="247650" cy="216694"/>
          </a:xfrm>
        </p:grpSpPr>
        <p:sp>
          <p:nvSpPr>
            <p:cNvPr id="33" name="Freeform 33"/>
            <p:cNvSpPr/>
            <p:nvPr/>
          </p:nvSpPr>
          <p:spPr>
            <a:xfrm>
              <a:off x="800100" y="5120878"/>
              <a:ext cx="247650" cy="30956"/>
            </a:xfrm>
            <a:custGeom>
              <a:avLst/>
              <a:gdLst/>
              <a:ahLst/>
              <a:cxnLst/>
              <a:rect l="l" t="t" r="r" b="b"/>
              <a:pathLst>
                <a:path w="247650" h="30956">
                  <a:moveTo>
                    <a:pt x="0" y="30956"/>
                  </a:moveTo>
                  <a:lnTo>
                    <a:pt x="247650" y="30956"/>
                  </a:lnTo>
                  <a:lnTo>
                    <a:pt x="247650" y="0"/>
                  </a:lnTo>
                  <a:lnTo>
                    <a:pt x="0" y="0"/>
                  </a:lnTo>
                  <a:lnTo>
                    <a:pt x="0" y="30956"/>
                  </a:ln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1056" y="5182791"/>
              <a:ext cx="185738" cy="30956"/>
            </a:xfrm>
            <a:custGeom>
              <a:avLst/>
              <a:gdLst/>
              <a:ahLst/>
              <a:cxnLst/>
              <a:rect l="l" t="t" r="r" b="b"/>
              <a:pathLst>
                <a:path w="185738" h="30956">
                  <a:moveTo>
                    <a:pt x="0" y="30956"/>
                  </a:moveTo>
                  <a:lnTo>
                    <a:pt x="185738" y="30956"/>
                  </a:lnTo>
                  <a:lnTo>
                    <a:pt x="185738" y="0"/>
                  </a:lnTo>
                  <a:lnTo>
                    <a:pt x="0" y="0"/>
                  </a:lnTo>
                  <a:lnTo>
                    <a:pt x="0" y="30956"/>
                  </a:ln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862012" y="5244703"/>
              <a:ext cx="123825" cy="30956"/>
            </a:xfrm>
            <a:custGeom>
              <a:avLst/>
              <a:gdLst/>
              <a:ahLst/>
              <a:cxnLst/>
              <a:rect l="l" t="t" r="r" b="b"/>
              <a:pathLst>
                <a:path w="123825" h="30956">
                  <a:moveTo>
                    <a:pt x="0" y="30956"/>
                  </a:moveTo>
                  <a:lnTo>
                    <a:pt x="123825" y="30956"/>
                  </a:lnTo>
                  <a:lnTo>
                    <a:pt x="123825" y="0"/>
                  </a:lnTo>
                  <a:lnTo>
                    <a:pt x="0" y="0"/>
                  </a:lnTo>
                  <a:lnTo>
                    <a:pt x="0" y="30956"/>
                  </a:ln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892969" y="5306616"/>
              <a:ext cx="61912" cy="30956"/>
            </a:xfrm>
            <a:custGeom>
              <a:avLst/>
              <a:gdLst/>
              <a:ahLst/>
              <a:cxnLst/>
              <a:rect l="l" t="t" r="r" b="b"/>
              <a:pathLst>
                <a:path w="61912" h="30956">
                  <a:moveTo>
                    <a:pt x="61912" y="30956"/>
                  </a:moveTo>
                  <a:lnTo>
                    <a:pt x="0" y="30956"/>
                  </a:lnTo>
                  <a:lnTo>
                    <a:pt x="0" y="0"/>
                  </a:lnTo>
                  <a:lnTo>
                    <a:pt x="61912" y="0"/>
                  </a:lnTo>
                  <a:lnTo>
                    <a:pt x="61912" y="30956"/>
                  </a:ln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5858" y="5158264"/>
            <a:ext cx="4089517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看清 transform 的形狀，才知道該用哪個工具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4860" y="5509260"/>
            <a:ext cx="77156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我們的清洗：逐檔 gunzip → 篩目標 gantry → 依（時 × 門架 × 車種）groupby 計數 → 加週次索引。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4860" y="5795010"/>
            <a:ext cx="83202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全程沒有跨檔 join、沒有 shuffle——Spark 的分散式價值一個都用不到。報告誠實寫「為什麼不選 Glue」。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36500" y="6578441"/>
            <a:ext cx="394478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7047005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重點④ E6 client-side：7 個實驗證明下載必須走本機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6660663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TDCS 只認台灣 IP、AWS 鎖死 us-east-1——下載是物理約束，不是設計選擇。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581150"/>
            <a:ext cx="3238500" cy="914400"/>
          </a:xfrm>
          <a:custGeom>
            <a:avLst/>
            <a:gdLst/>
            <a:ahLst/>
            <a:cxnLst/>
            <a:rect l="l" t="t" r="r" b="b"/>
            <a:pathLst>
              <a:path w="3238500" h="914400">
                <a:moveTo>
                  <a:pt x="95250" y="0"/>
                </a:moveTo>
                <a:lnTo>
                  <a:pt x="3143250" y="0"/>
                </a:lnTo>
                <a:cubicBezTo>
                  <a:pt x="3195855" y="0"/>
                  <a:pt x="3238500" y="42645"/>
                  <a:pt x="3238500" y="95250"/>
                </a:cubicBezTo>
                <a:lnTo>
                  <a:pt x="3238500" y="819150"/>
                </a:lnTo>
                <a:cubicBezTo>
                  <a:pt x="3238500" y="871755"/>
                  <a:pt x="3195855" y="914400"/>
                  <a:pt x="31432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801132" y="1809750"/>
            <a:ext cx="264637" cy="266700"/>
            <a:chOff x="801132" y="1809750"/>
            <a:chExt cx="264637" cy="266700"/>
          </a:xfrm>
        </p:grpSpPr>
        <p:sp>
          <p:nvSpPr>
            <p:cNvPr id="9" name="Freeform 9"/>
            <p:cNvSpPr/>
            <p:nvPr/>
          </p:nvSpPr>
          <p:spPr>
            <a:xfrm>
              <a:off x="801132" y="1864890"/>
              <a:ext cx="264637" cy="61541"/>
            </a:xfrm>
            <a:custGeom>
              <a:avLst/>
              <a:gdLst/>
              <a:ahLst/>
              <a:cxnLst/>
              <a:rect l="l" t="t" r="r" b="b"/>
              <a:pathLst>
                <a:path w="264637" h="61541">
                  <a:moveTo>
                    <a:pt x="24299" y="0"/>
                  </a:moveTo>
                  <a:cubicBezTo>
                    <a:pt x="11443" y="17726"/>
                    <a:pt x="2843" y="38740"/>
                    <a:pt x="0" y="61541"/>
                  </a:cubicBezTo>
                  <a:lnTo>
                    <a:pt x="264637" y="61541"/>
                  </a:lnTo>
                  <a:cubicBezTo>
                    <a:pt x="261793" y="38739"/>
                    <a:pt x="253193" y="17726"/>
                    <a:pt x="240337" y="0"/>
                  </a:cubicBezTo>
                  <a:cubicBezTo>
                    <a:pt x="239643" y="388"/>
                    <a:pt x="238940" y="777"/>
                    <a:pt x="238228" y="1165"/>
                  </a:cubicBezTo>
                  <a:cubicBezTo>
                    <a:pt x="213469" y="14670"/>
                    <a:pt x="177399" y="28203"/>
                    <a:pt x="132318" y="28203"/>
                  </a:cubicBezTo>
                  <a:cubicBezTo>
                    <a:pt x="87237" y="28203"/>
                    <a:pt x="51166" y="14670"/>
                    <a:pt x="26407" y="1165"/>
                  </a:cubicBezTo>
                  <a:cubicBezTo>
                    <a:pt x="25695" y="777"/>
                    <a:pt x="24993" y="388"/>
                    <a:pt x="24299" y="0"/>
                  </a:cubicBez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49169" y="1809750"/>
              <a:ext cx="168562" cy="50006"/>
            </a:xfrm>
            <a:custGeom>
              <a:avLst/>
              <a:gdLst/>
              <a:ahLst/>
              <a:cxnLst/>
              <a:rect l="l" t="t" r="r" b="b"/>
              <a:pathLst>
                <a:path w="168562" h="50006">
                  <a:moveTo>
                    <a:pt x="168562" y="30006"/>
                  </a:moveTo>
                  <a:cubicBezTo>
                    <a:pt x="147812" y="40430"/>
                    <a:pt x="119244" y="50006"/>
                    <a:pt x="84281" y="50006"/>
                  </a:cubicBezTo>
                  <a:cubicBezTo>
                    <a:pt x="49318" y="50006"/>
                    <a:pt x="20750" y="40430"/>
                    <a:pt x="0" y="30006"/>
                  </a:cubicBezTo>
                  <a:cubicBezTo>
                    <a:pt x="22971" y="11250"/>
                    <a:pt x="52312" y="0"/>
                    <a:pt x="84281" y="0"/>
                  </a:cubicBezTo>
                  <a:cubicBezTo>
                    <a:pt x="116250" y="0"/>
                    <a:pt x="145591" y="11249"/>
                    <a:pt x="168562" y="30006"/>
                  </a:cubicBez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01132" y="1959769"/>
              <a:ext cx="264637" cy="61541"/>
            </a:xfrm>
            <a:custGeom>
              <a:avLst/>
              <a:gdLst/>
              <a:ahLst/>
              <a:cxnLst/>
              <a:rect l="l" t="t" r="r" b="b"/>
              <a:pathLst>
                <a:path w="264637" h="61541">
                  <a:moveTo>
                    <a:pt x="0" y="0"/>
                  </a:moveTo>
                  <a:cubicBezTo>
                    <a:pt x="2843" y="22801"/>
                    <a:pt x="11443" y="43815"/>
                    <a:pt x="24300" y="61541"/>
                  </a:cubicBezTo>
                  <a:cubicBezTo>
                    <a:pt x="24993" y="61153"/>
                    <a:pt x="25696" y="60764"/>
                    <a:pt x="26407" y="60376"/>
                  </a:cubicBezTo>
                  <a:cubicBezTo>
                    <a:pt x="51167" y="46871"/>
                    <a:pt x="87238" y="33338"/>
                    <a:pt x="132318" y="33338"/>
                  </a:cubicBezTo>
                  <a:cubicBezTo>
                    <a:pt x="177399" y="33338"/>
                    <a:pt x="213470" y="46871"/>
                    <a:pt x="238228" y="60376"/>
                  </a:cubicBezTo>
                  <a:cubicBezTo>
                    <a:pt x="238942" y="60764"/>
                    <a:pt x="239643" y="61153"/>
                    <a:pt x="240337" y="61541"/>
                  </a:cubicBezTo>
                  <a:cubicBezTo>
                    <a:pt x="253193" y="43815"/>
                    <a:pt x="261793" y="22801"/>
                    <a:pt x="2646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49169" y="2026444"/>
              <a:ext cx="168562" cy="50006"/>
            </a:xfrm>
            <a:custGeom>
              <a:avLst/>
              <a:gdLst/>
              <a:ahLst/>
              <a:cxnLst/>
              <a:rect l="l" t="t" r="r" b="b"/>
              <a:pathLst>
                <a:path w="168562" h="50006">
                  <a:moveTo>
                    <a:pt x="84281" y="50006"/>
                  </a:moveTo>
                  <a:cubicBezTo>
                    <a:pt x="52312" y="50006"/>
                    <a:pt x="22971" y="38757"/>
                    <a:pt x="0" y="20001"/>
                  </a:cubicBezTo>
                  <a:cubicBezTo>
                    <a:pt x="20750" y="9576"/>
                    <a:pt x="49318" y="0"/>
                    <a:pt x="84281" y="0"/>
                  </a:cubicBezTo>
                  <a:cubicBezTo>
                    <a:pt x="119244" y="0"/>
                    <a:pt x="147812" y="9576"/>
                    <a:pt x="168562" y="20001"/>
                  </a:cubicBezTo>
                  <a:cubicBezTo>
                    <a:pt x="145590" y="38757"/>
                    <a:pt x="116250" y="50006"/>
                    <a:pt x="84281" y="50006"/>
                  </a:cubicBezTo>
                  <a:close/>
                </a:path>
              </a:pathLst>
            </a:custGeom>
            <a:solidFill>
              <a:srgbClr val="9BB89A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45858" y="1881664"/>
            <a:ext cx="1264189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本機 ‧ 台灣 IP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6765" y="2191702"/>
            <a:ext cx="1544860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直連 TDCS 下載 + gzip</a:t>
            </a:r>
          </a:p>
        </p:txBody>
      </p:sp>
      <p:sp>
        <p:nvSpPr>
          <p:cNvPr id="16" name="Polygon 16"/>
          <p:cNvSpPr/>
          <p:nvPr/>
        </p:nvSpPr>
        <p:spPr>
          <a:xfrm>
            <a:off x="3886200" y="188595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>
                <a:moveTo>
                  <a:pt x="0" y="76200"/>
                </a:moveTo>
                <a:lnTo>
                  <a:pt x="171450" y="76200"/>
                </a:lnTo>
                <a:lnTo>
                  <a:pt x="171450" y="0"/>
                </a:lnTo>
                <a:lnTo>
                  <a:pt x="361950" y="152400"/>
                </a:lnTo>
                <a:lnTo>
                  <a:pt x="171450" y="304800"/>
                </a:lnTo>
                <a:lnTo>
                  <a:pt x="17145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4476750" y="1581150"/>
            <a:ext cx="3238500" cy="914400"/>
          </a:xfrm>
          <a:custGeom>
            <a:avLst/>
            <a:gdLst/>
            <a:ahLst/>
            <a:cxnLst/>
            <a:rect l="l" t="t" r="r" b="b"/>
            <a:pathLst>
              <a:path w="3238500" h="914400">
                <a:moveTo>
                  <a:pt x="95250" y="0"/>
                </a:moveTo>
                <a:lnTo>
                  <a:pt x="3143250" y="0"/>
                </a:lnTo>
                <a:cubicBezTo>
                  <a:pt x="3195855" y="0"/>
                  <a:pt x="3238500" y="42645"/>
                  <a:pt x="3238500" y="95250"/>
                </a:cubicBezTo>
                <a:lnTo>
                  <a:pt x="3238500" y="819150"/>
                </a:lnTo>
                <a:cubicBezTo>
                  <a:pt x="3238500" y="871755"/>
                  <a:pt x="3195855" y="914400"/>
                  <a:pt x="31432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4705350" y="1843088"/>
            <a:ext cx="266700" cy="200025"/>
          </a:xfrm>
          <a:custGeom>
            <a:avLst/>
            <a:gdLst/>
            <a:ahLst/>
            <a:cxnLst/>
            <a:rect l="l" t="t" r="r" b="b"/>
            <a:pathLst>
              <a:path w="266700" h="200025">
                <a:moveTo>
                  <a:pt x="133350" y="0"/>
                </a:moveTo>
                <a:cubicBezTo>
                  <a:pt x="170173" y="0"/>
                  <a:pt x="200025" y="29851"/>
                  <a:pt x="200025" y="66675"/>
                </a:cubicBezTo>
                <a:lnTo>
                  <a:pt x="200025" y="83344"/>
                </a:lnTo>
                <a:cubicBezTo>
                  <a:pt x="236848" y="83344"/>
                  <a:pt x="266700" y="113195"/>
                  <a:pt x="266700" y="150019"/>
                </a:cubicBezTo>
                <a:lnTo>
                  <a:pt x="266700" y="200025"/>
                </a:lnTo>
                <a:lnTo>
                  <a:pt x="150019" y="200025"/>
                </a:lnTo>
                <a:lnTo>
                  <a:pt x="183356" y="166688"/>
                </a:lnTo>
                <a:lnTo>
                  <a:pt x="183356" y="150019"/>
                </a:lnTo>
                <a:lnTo>
                  <a:pt x="150019" y="150019"/>
                </a:lnTo>
                <a:lnTo>
                  <a:pt x="150019" y="100012"/>
                </a:lnTo>
                <a:lnTo>
                  <a:pt x="116681" y="100012"/>
                </a:lnTo>
                <a:lnTo>
                  <a:pt x="116681" y="150019"/>
                </a:lnTo>
                <a:lnTo>
                  <a:pt x="83344" y="150019"/>
                </a:lnTo>
                <a:lnTo>
                  <a:pt x="83344" y="166688"/>
                </a:lnTo>
                <a:lnTo>
                  <a:pt x="116681" y="200025"/>
                </a:lnTo>
                <a:lnTo>
                  <a:pt x="0" y="200025"/>
                </a:lnTo>
                <a:lnTo>
                  <a:pt x="0" y="133350"/>
                </a:lnTo>
                <a:cubicBezTo>
                  <a:pt x="0" y="96526"/>
                  <a:pt x="29851" y="66675"/>
                  <a:pt x="66675" y="66675"/>
                </a:cubicBezTo>
                <a:cubicBezTo>
                  <a:pt x="66675" y="29851"/>
                  <a:pt x="96526" y="0"/>
                  <a:pt x="133350" y="0"/>
                </a:cubicBez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5051108" y="1881664"/>
            <a:ext cx="1225084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上傳 S3 raw/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92015" y="2191702"/>
            <a:ext cx="1452848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依 yyyymm 分區存放</a:t>
            </a:r>
          </a:p>
        </p:txBody>
      </p:sp>
      <p:sp>
        <p:nvSpPr>
          <p:cNvPr id="21" name="Polygon 21"/>
          <p:cNvSpPr/>
          <p:nvPr/>
        </p:nvSpPr>
        <p:spPr>
          <a:xfrm>
            <a:off x="7791450" y="1885950"/>
            <a:ext cx="361950" cy="304800"/>
          </a:xfrm>
          <a:custGeom>
            <a:avLst/>
            <a:gdLst/>
            <a:ahLst/>
            <a:cxnLst/>
            <a:rect l="l" t="t" r="r" b="b"/>
            <a:pathLst>
              <a:path w="361950" h="304800">
                <a:moveTo>
                  <a:pt x="0" y="76200"/>
                </a:moveTo>
                <a:lnTo>
                  <a:pt x="171450" y="76200"/>
                </a:lnTo>
                <a:lnTo>
                  <a:pt x="171450" y="0"/>
                </a:lnTo>
                <a:lnTo>
                  <a:pt x="361950" y="152400"/>
                </a:lnTo>
                <a:lnTo>
                  <a:pt x="171450" y="304800"/>
                </a:lnTo>
                <a:lnTo>
                  <a:pt x="17145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8382000" y="1581150"/>
            <a:ext cx="3238500" cy="914400"/>
          </a:xfrm>
          <a:custGeom>
            <a:avLst/>
            <a:gdLst/>
            <a:ahLst/>
            <a:cxnLst/>
            <a:rect l="l" t="t" r="r" b="b"/>
            <a:pathLst>
              <a:path w="3238500" h="914400">
                <a:moveTo>
                  <a:pt x="95250" y="0"/>
                </a:moveTo>
                <a:lnTo>
                  <a:pt x="3143250" y="0"/>
                </a:lnTo>
                <a:cubicBezTo>
                  <a:pt x="3195855" y="0"/>
                  <a:pt x="3238500" y="42645"/>
                  <a:pt x="3238500" y="95250"/>
                </a:cubicBezTo>
                <a:lnTo>
                  <a:pt x="3238500" y="819150"/>
                </a:lnTo>
                <a:cubicBezTo>
                  <a:pt x="3238500" y="871755"/>
                  <a:pt x="3195855" y="914400"/>
                  <a:pt x="31432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8610600" y="1843088"/>
            <a:ext cx="266700" cy="200025"/>
            <a:chOff x="8610600" y="1843088"/>
            <a:chExt cx="266700" cy="200025"/>
          </a:xfrm>
        </p:grpSpPr>
        <p:sp>
          <p:nvSpPr>
            <p:cNvPr id="23" name="Freeform 23"/>
            <p:cNvSpPr/>
            <p:nvPr/>
          </p:nvSpPr>
          <p:spPr>
            <a:xfrm>
              <a:off x="8610600" y="1843088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66675" y="41672"/>
                  </a:moveTo>
                  <a:cubicBezTo>
                    <a:pt x="66675" y="50878"/>
                    <a:pt x="59212" y="58341"/>
                    <a:pt x="50006" y="58341"/>
                  </a:cubicBezTo>
                  <a:cubicBezTo>
                    <a:pt x="40800" y="58341"/>
                    <a:pt x="33338" y="50878"/>
                    <a:pt x="33338" y="41672"/>
                  </a:cubicBezTo>
                  <a:cubicBezTo>
                    <a:pt x="33338" y="32466"/>
                    <a:pt x="40800" y="25003"/>
                    <a:pt x="50006" y="25003"/>
                  </a:cubicBezTo>
                  <a:cubicBezTo>
                    <a:pt x="59212" y="25003"/>
                    <a:pt x="66675" y="32466"/>
                    <a:pt x="66675" y="41672"/>
                  </a:cubicBez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610600" y="1959769"/>
              <a:ext cx="266700" cy="83344"/>
            </a:xfrm>
            <a:custGeom>
              <a:avLst/>
              <a:gdLst/>
              <a:ahLst/>
              <a:cxnLst/>
              <a:rect l="l" t="t" r="r" b="b"/>
              <a:pathLst>
                <a:path w="266700" h="83344">
                  <a:moveTo>
                    <a:pt x="266700" y="0"/>
                  </a:moveTo>
                  <a:lnTo>
                    <a:pt x="0" y="0"/>
                  </a:lnTo>
                  <a:lnTo>
                    <a:pt x="0" y="83344"/>
                  </a:lnTo>
                  <a:lnTo>
                    <a:pt x="266700" y="83344"/>
                  </a:lnTo>
                  <a:lnTo>
                    <a:pt x="266700" y="0"/>
                  </a:lnTo>
                  <a:close/>
                  <a:moveTo>
                    <a:pt x="50006" y="58341"/>
                  </a:moveTo>
                  <a:cubicBezTo>
                    <a:pt x="59212" y="58341"/>
                    <a:pt x="66675" y="50878"/>
                    <a:pt x="66675" y="41672"/>
                  </a:cubicBezTo>
                  <a:cubicBezTo>
                    <a:pt x="66675" y="32466"/>
                    <a:pt x="59212" y="25003"/>
                    <a:pt x="50006" y="25003"/>
                  </a:cubicBezTo>
                  <a:cubicBezTo>
                    <a:pt x="40800" y="25003"/>
                    <a:pt x="33338" y="32466"/>
                    <a:pt x="33338" y="41672"/>
                  </a:cubicBezTo>
                  <a:cubicBezTo>
                    <a:pt x="33338" y="50878"/>
                    <a:pt x="40800" y="58341"/>
                    <a:pt x="50006" y="58341"/>
                  </a:cubicBezTo>
                  <a:close/>
                </a:path>
              </a:pathLst>
            </a:custGeom>
            <a:solidFill>
              <a:srgbClr val="8FB3C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956358" y="1881664"/>
            <a:ext cx="1430385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雲端清洗 + 查詢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97265" y="2191702"/>
            <a:ext cx="1797891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Lambda 清洗 ‧ Athena 查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2762250"/>
            <a:ext cx="5286375" cy="2857500"/>
          </a:xfrm>
          <a:custGeom>
            <a:avLst/>
            <a:gdLst/>
            <a:ahLst/>
            <a:cxnLst/>
            <a:rect l="l" t="t" r="r" b="b"/>
            <a:pathLst>
              <a:path w="5286375" h="285750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2743200"/>
                </a:lnTo>
                <a:cubicBezTo>
                  <a:pt x="5286375" y="2806326"/>
                  <a:pt x="5235201" y="2857500"/>
                  <a:pt x="5172075" y="2857500"/>
                </a:cubicBezTo>
                <a:lnTo>
                  <a:pt x="114300" y="2857500"/>
                </a:lnTo>
                <a:cubicBezTo>
                  <a:pt x="51174" y="2857500"/>
                  <a:pt x="0" y="2806326"/>
                  <a:pt x="0" y="2743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Rectangle 29"/>
          <p:cNvSpPr/>
          <p:nvPr/>
        </p:nvSpPr>
        <p:spPr>
          <a:xfrm>
            <a:off x="571500" y="2762250"/>
            <a:ext cx="57150" cy="2857500"/>
          </a:xfrm>
          <a:prstGeom prst="rect">
            <a:avLst/>
          </a:pr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Freeform 30"/>
          <p:cNvSpPr/>
          <p:nvPr/>
        </p:nvSpPr>
        <p:spPr>
          <a:xfrm>
            <a:off x="800100" y="2990850"/>
            <a:ext cx="247650" cy="232172"/>
          </a:xfrm>
          <a:custGeom>
            <a:avLst/>
            <a:gdLst/>
            <a:ahLst/>
            <a:cxnLst/>
            <a:rect l="l" t="t" r="r" b="b"/>
            <a:pathLst>
              <a:path w="247650" h="232172">
                <a:moveTo>
                  <a:pt x="247650" y="232172"/>
                </a:moveTo>
                <a:lnTo>
                  <a:pt x="0" y="232172"/>
                </a:lnTo>
                <a:lnTo>
                  <a:pt x="0" y="185738"/>
                </a:lnTo>
                <a:lnTo>
                  <a:pt x="108347" y="0"/>
                </a:lnTo>
                <a:lnTo>
                  <a:pt x="139303" y="0"/>
                </a:lnTo>
                <a:lnTo>
                  <a:pt x="247650" y="185738"/>
                </a:lnTo>
                <a:lnTo>
                  <a:pt x="247650" y="232172"/>
                </a:lnTo>
                <a:close/>
                <a:moveTo>
                  <a:pt x="108347" y="61912"/>
                </a:moveTo>
                <a:lnTo>
                  <a:pt x="139303" y="61912"/>
                </a:lnTo>
                <a:lnTo>
                  <a:pt x="139303" y="139303"/>
                </a:lnTo>
                <a:lnTo>
                  <a:pt x="108347" y="139303"/>
                </a:lnTo>
                <a:lnTo>
                  <a:pt x="108347" y="61912"/>
                </a:lnTo>
                <a:close/>
                <a:moveTo>
                  <a:pt x="108347" y="170259"/>
                </a:moveTo>
                <a:lnTo>
                  <a:pt x="139303" y="170259"/>
                </a:lnTo>
                <a:lnTo>
                  <a:pt x="139303" y="201216"/>
                </a:lnTo>
                <a:lnTo>
                  <a:pt x="108347" y="201216"/>
                </a:lnTo>
                <a:lnTo>
                  <a:pt x="108347" y="170259"/>
                </a:ln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143952" y="3027521"/>
            <a:ext cx="3182988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為什麼非繞不可（E1 / E2 基線）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4860" y="3547110"/>
            <a:ext cx="31325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E1 Lambda 直連 → timeout 15,990 ms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4860" y="3947160"/>
            <a:ext cx="322897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E2 EC2 直連 → curl exit 28 / http 000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4412" y="4221956"/>
            <a:ext cx="187702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（連 TCP 握手都沒完成）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4860" y="4690110"/>
            <a:ext cx="35619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● 封鎖是 region-level（us-east-1 整段 IP）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4412" y="4964906"/>
            <a:ext cx="2838212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9FB6BF"/>
                </a:solidFill>
                <a:latin typeface="Segoe UI"/>
                <a:ea typeface="Microsoft YaHei"/>
                <a:cs typeface="Segoe UI"/>
              </a:rPr>
              <a:t>換 NAT、換服務類型都沒用 → 一定要繞</a:t>
            </a:r>
          </a:p>
        </p:txBody>
      </p:sp>
      <p:sp>
        <p:nvSpPr>
          <p:cNvPr id="37" name="Freeform 37"/>
          <p:cNvSpPr/>
          <p:nvPr/>
        </p:nvSpPr>
        <p:spPr>
          <a:xfrm>
            <a:off x="6334125" y="2762250"/>
            <a:ext cx="5286375" cy="2857500"/>
          </a:xfrm>
          <a:custGeom>
            <a:avLst/>
            <a:gdLst/>
            <a:ahLst/>
            <a:cxnLst/>
            <a:rect l="l" t="t" r="r" b="b"/>
            <a:pathLst>
              <a:path w="5286375" h="285750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2743200"/>
                </a:lnTo>
                <a:cubicBezTo>
                  <a:pt x="5286375" y="2806326"/>
                  <a:pt x="5235201" y="2857500"/>
                  <a:pt x="5172075" y="2857500"/>
                </a:cubicBezTo>
                <a:lnTo>
                  <a:pt x="114300" y="2857500"/>
                </a:lnTo>
                <a:cubicBezTo>
                  <a:pt x="51174" y="2857500"/>
                  <a:pt x="0" y="2806326"/>
                  <a:pt x="0" y="2743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Rectangle 38"/>
          <p:cNvSpPr/>
          <p:nvPr/>
        </p:nvSpPr>
        <p:spPr>
          <a:xfrm>
            <a:off x="6334125" y="2762250"/>
            <a:ext cx="57150" cy="2857500"/>
          </a:xfrm>
          <a:prstGeom prst="rect">
            <a:avLst/>
          </a:pr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47" name="Group 47"/>
          <p:cNvGrpSpPr/>
          <p:nvPr/>
        </p:nvGrpSpPr>
        <p:grpSpPr>
          <a:xfrm>
            <a:off x="6578203" y="3006328"/>
            <a:ext cx="216694" cy="216694"/>
            <a:chOff x="6578203" y="3006328"/>
            <a:chExt cx="216694" cy="216694"/>
          </a:xfrm>
        </p:grpSpPr>
        <p:sp>
          <p:nvSpPr>
            <p:cNvPr id="39" name="Freeform 39"/>
            <p:cNvSpPr/>
            <p:nvPr/>
          </p:nvSpPr>
          <p:spPr>
            <a:xfrm>
              <a:off x="6578203" y="3006328"/>
              <a:ext cx="30956" cy="30956"/>
            </a:xfrm>
            <a:custGeom>
              <a:avLst/>
              <a:gdLst/>
              <a:ahLst/>
              <a:cxnLst/>
              <a:rect l="l" t="t" r="r" b="b"/>
              <a:pathLst>
                <a:path w="30956" h="30956">
                  <a:moveTo>
                    <a:pt x="30956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30956" y="30956"/>
                  </a:lnTo>
                  <a:lnTo>
                    <a:pt x="30956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578203" y="3068241"/>
              <a:ext cx="30956" cy="30956"/>
            </a:xfrm>
            <a:custGeom>
              <a:avLst/>
              <a:gdLst/>
              <a:ahLst/>
              <a:cxnLst/>
              <a:rect l="l" t="t" r="r" b="b"/>
              <a:pathLst>
                <a:path w="30956" h="30956">
                  <a:moveTo>
                    <a:pt x="30956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30956" y="30956"/>
                  </a:lnTo>
                  <a:lnTo>
                    <a:pt x="30956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6578203" y="3130153"/>
              <a:ext cx="30956" cy="30956"/>
            </a:xfrm>
            <a:custGeom>
              <a:avLst/>
              <a:gdLst/>
              <a:ahLst/>
              <a:cxnLst/>
              <a:rect l="l" t="t" r="r" b="b"/>
              <a:pathLst>
                <a:path w="30956" h="30956">
                  <a:moveTo>
                    <a:pt x="0" y="0"/>
                  </a:moveTo>
                  <a:lnTo>
                    <a:pt x="30956" y="0"/>
                  </a:lnTo>
                  <a:lnTo>
                    <a:pt x="30956" y="30956"/>
                  </a:lnTo>
                  <a:lnTo>
                    <a:pt x="0" y="309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6578203" y="3192066"/>
              <a:ext cx="30956" cy="30956"/>
            </a:xfrm>
            <a:custGeom>
              <a:avLst/>
              <a:gdLst/>
              <a:ahLst/>
              <a:cxnLst/>
              <a:rect l="l" t="t" r="r" b="b"/>
              <a:pathLst>
                <a:path w="30956" h="30956">
                  <a:moveTo>
                    <a:pt x="30956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30956" y="30956"/>
                  </a:lnTo>
                  <a:lnTo>
                    <a:pt x="30956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6640116" y="3006328"/>
              <a:ext cx="154781" cy="30956"/>
            </a:xfrm>
            <a:custGeom>
              <a:avLst/>
              <a:gdLst/>
              <a:ahLst/>
              <a:cxnLst/>
              <a:rect l="l" t="t" r="r" b="b"/>
              <a:pathLst>
                <a:path w="154781" h="30956">
                  <a:moveTo>
                    <a:pt x="154781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154781" y="30956"/>
                  </a:lnTo>
                  <a:lnTo>
                    <a:pt x="154781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6640116" y="3068241"/>
              <a:ext cx="154781" cy="30956"/>
            </a:xfrm>
            <a:custGeom>
              <a:avLst/>
              <a:gdLst/>
              <a:ahLst/>
              <a:cxnLst/>
              <a:rect l="l" t="t" r="r" b="b"/>
              <a:pathLst>
                <a:path w="154781" h="30956">
                  <a:moveTo>
                    <a:pt x="154781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154781" y="30956"/>
                  </a:lnTo>
                  <a:lnTo>
                    <a:pt x="154781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6640116" y="3130153"/>
              <a:ext cx="154781" cy="30956"/>
            </a:xfrm>
            <a:custGeom>
              <a:avLst/>
              <a:gdLst/>
              <a:ahLst/>
              <a:cxnLst/>
              <a:rect l="l" t="t" r="r" b="b"/>
              <a:pathLst>
                <a:path w="154781" h="30956">
                  <a:moveTo>
                    <a:pt x="0" y="0"/>
                  </a:moveTo>
                  <a:lnTo>
                    <a:pt x="154781" y="0"/>
                  </a:lnTo>
                  <a:lnTo>
                    <a:pt x="154781" y="30956"/>
                  </a:lnTo>
                  <a:lnTo>
                    <a:pt x="0" y="309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6640116" y="3192066"/>
              <a:ext cx="154781" cy="30956"/>
            </a:xfrm>
            <a:custGeom>
              <a:avLst/>
              <a:gdLst/>
              <a:ahLst/>
              <a:cxnLst/>
              <a:rect l="l" t="t" r="r" b="b"/>
              <a:pathLst>
                <a:path w="154781" h="30956">
                  <a:moveTo>
                    <a:pt x="154781" y="0"/>
                  </a:moveTo>
                  <a:lnTo>
                    <a:pt x="0" y="0"/>
                  </a:lnTo>
                  <a:lnTo>
                    <a:pt x="0" y="30956"/>
                  </a:lnTo>
                  <a:lnTo>
                    <a:pt x="154781" y="30956"/>
                  </a:lnTo>
                  <a:lnTo>
                    <a:pt x="154781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6906578" y="3027521"/>
            <a:ext cx="2822418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候選跳板各有代價（E3–E7）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47485" y="3547110"/>
            <a:ext cx="40001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E3 第三方 proxy：$4–16/月 + 信用卡 + 條款風險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47485" y="3947160"/>
            <a:ext cx="31413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E4 Tailscale：3 個 SPOF + egress 費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47485" y="4347210"/>
            <a:ext cx="33954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E5 nginx + Cloudflare tunnel：URL 不穩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47485" y="4747260"/>
            <a:ext cx="274701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● E7 hybrid webhook：5 個依賴鏈</a:t>
            </a:r>
          </a:p>
        </p:txBody>
      </p:sp>
      <p:sp>
        <p:nvSpPr>
          <p:cNvPr id="53" name="Freeform 53"/>
          <p:cNvSpPr/>
          <p:nvPr/>
        </p:nvSpPr>
        <p:spPr>
          <a:xfrm>
            <a:off x="571500" y="5772150"/>
            <a:ext cx="11049000" cy="438150"/>
          </a:xfrm>
          <a:custGeom>
            <a:avLst/>
            <a:gdLst/>
            <a:ahLst/>
            <a:cxnLst/>
            <a:rect l="l" t="t" r="r" b="b"/>
            <a:pathLst>
              <a:path w="11049000" h="4381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61950"/>
                </a:lnTo>
                <a:cubicBezTo>
                  <a:pt x="11049000" y="404034"/>
                  <a:pt x="11014884" y="438150"/>
                  <a:pt x="1097280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5E4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Freeform 54"/>
          <p:cNvSpPr/>
          <p:nvPr/>
        </p:nvSpPr>
        <p:spPr>
          <a:xfrm>
            <a:off x="757238" y="5886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2" y="228600"/>
                </a:moveTo>
                <a:lnTo>
                  <a:pt x="47864" y="191351"/>
                </a:lnTo>
                <a:cubicBezTo>
                  <a:pt x="17827" y="169896"/>
                  <a:pt x="0" y="135255"/>
                  <a:pt x="0" y="98342"/>
                </a:cubicBezTo>
                <a:lnTo>
                  <a:pt x="0" y="42862"/>
                </a:lnTo>
                <a:lnTo>
                  <a:pt x="100012" y="0"/>
                </a:lnTo>
                <a:lnTo>
                  <a:pt x="200025" y="42862"/>
                </a:lnTo>
                <a:lnTo>
                  <a:pt x="200025" y="98342"/>
                </a:lnTo>
                <a:cubicBezTo>
                  <a:pt x="200025" y="135255"/>
                  <a:pt x="182198" y="169896"/>
                  <a:pt x="152160" y="191351"/>
                </a:cubicBezTo>
                <a:lnTo>
                  <a:pt x="100012" y="228600"/>
                </a:lnTo>
                <a:close/>
                <a:moveTo>
                  <a:pt x="160121" y="81540"/>
                </a:moveTo>
                <a:lnTo>
                  <a:pt x="139916" y="61335"/>
                </a:lnTo>
                <a:lnTo>
                  <a:pt x="85725" y="115526"/>
                </a:lnTo>
                <a:lnTo>
                  <a:pt x="60109" y="89910"/>
                </a:lnTo>
                <a:lnTo>
                  <a:pt x="39903" y="110115"/>
                </a:lnTo>
                <a:lnTo>
                  <a:pt x="85725" y="155937"/>
                </a:lnTo>
                <a:lnTo>
                  <a:pt x="160121" y="81540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1070610" y="5918835"/>
            <a:ext cx="76214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選 E6 純 client-side：本機直連 TDCS、AWS 只收檔 + 清洗 + 查詢，零跳板費用、零信用卡。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266622" y="6578441"/>
            <a:ext cx="364355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6030278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已驗證核心邏輯：真清洗、真可查、真可重現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6298943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不是 demo-only——端到端跑通麻豆段，14,116 行可用 Athena 重複查證。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38300"/>
            <a:ext cx="5286375" cy="4533900"/>
          </a:xfrm>
          <a:custGeom>
            <a:avLst/>
            <a:gdLst/>
            <a:ahLst/>
            <a:cxnLst/>
            <a:rect l="l" t="t" r="r" b="b"/>
            <a:pathLst>
              <a:path w="5286375" h="4533900">
                <a:moveTo>
                  <a:pt x="114300" y="0"/>
                </a:moveTo>
                <a:lnTo>
                  <a:pt x="5172075" y="0"/>
                </a:lnTo>
                <a:cubicBezTo>
                  <a:pt x="5235201" y="0"/>
                  <a:pt x="5286375" y="51174"/>
                  <a:pt x="5286375" y="114300"/>
                </a:cubicBezTo>
                <a:lnTo>
                  <a:pt x="5286375" y="4419600"/>
                </a:lnTo>
                <a:cubicBezTo>
                  <a:pt x="5286375" y="4482726"/>
                  <a:pt x="5235201" y="4533900"/>
                  <a:pt x="5172075" y="4533900"/>
                </a:cubicBezTo>
                <a:lnTo>
                  <a:pt x="114300" y="4533900"/>
                </a:lnTo>
                <a:cubicBezTo>
                  <a:pt x="51174" y="4533900"/>
                  <a:pt x="0" y="4482726"/>
                  <a:pt x="0" y="4419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82002" y="1865471"/>
            <a:ext cx="1565886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端到端跑通數據</a:t>
            </a:r>
          </a:p>
        </p:txBody>
      </p:sp>
      <p:sp>
        <p:nvSpPr>
          <p:cNvPr id="10" name="Freeform 10"/>
          <p:cNvSpPr/>
          <p:nvPr/>
        </p:nvSpPr>
        <p:spPr>
          <a:xfrm>
            <a:off x="800100" y="2314575"/>
            <a:ext cx="228600" cy="171450"/>
          </a:xfrm>
          <a:custGeom>
            <a:avLst/>
            <a:gdLst/>
            <a:ahLst/>
            <a:cxnLst/>
            <a:rect l="l" t="t" r="r" b="b"/>
            <a:pathLst>
              <a:path w="228600" h="171450">
                <a:moveTo>
                  <a:pt x="114300" y="0"/>
                </a:moveTo>
                <a:cubicBezTo>
                  <a:pt x="145863" y="0"/>
                  <a:pt x="171450" y="25587"/>
                  <a:pt x="171450" y="57150"/>
                </a:cubicBezTo>
                <a:lnTo>
                  <a:pt x="171450" y="71438"/>
                </a:lnTo>
                <a:cubicBezTo>
                  <a:pt x="203013" y="71438"/>
                  <a:pt x="228600" y="97024"/>
                  <a:pt x="228600" y="128588"/>
                </a:cubicBezTo>
                <a:lnTo>
                  <a:pt x="228600" y="171450"/>
                </a:lnTo>
                <a:lnTo>
                  <a:pt x="128588" y="171450"/>
                </a:lnTo>
                <a:lnTo>
                  <a:pt x="128588" y="128588"/>
                </a:lnTo>
                <a:lnTo>
                  <a:pt x="157162" y="128588"/>
                </a:lnTo>
                <a:lnTo>
                  <a:pt x="157162" y="114300"/>
                </a:lnTo>
                <a:lnTo>
                  <a:pt x="114300" y="71438"/>
                </a:lnTo>
                <a:lnTo>
                  <a:pt x="71438" y="114300"/>
                </a:lnTo>
                <a:lnTo>
                  <a:pt x="71438" y="128588"/>
                </a:lnTo>
                <a:lnTo>
                  <a:pt x="100012" y="128588"/>
                </a:lnTo>
                <a:lnTo>
                  <a:pt x="100012" y="171450"/>
                </a:lnTo>
                <a:lnTo>
                  <a:pt x="0" y="171450"/>
                </a:lnTo>
                <a:lnTo>
                  <a:pt x="0" y="114300"/>
                </a:lnTo>
                <a:cubicBezTo>
                  <a:pt x="0" y="82737"/>
                  <a:pt x="25587" y="57150"/>
                  <a:pt x="57150" y="57150"/>
                </a:cubicBezTo>
                <a:cubicBezTo>
                  <a:pt x="57150" y="25587"/>
                  <a:pt x="82737" y="0"/>
                  <a:pt x="114300" y="0"/>
                </a:cubicBez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108710" y="2251710"/>
            <a:ext cx="3433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pull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9662" y="2488406"/>
            <a:ext cx="402121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TDCS 2026/03 麻豆 4 匝道 → 744 raw csv.gz / 22 GiB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4698" y="2838450"/>
            <a:ext cx="219404" cy="228600"/>
          </a:xfrm>
          <a:custGeom>
            <a:avLst/>
            <a:gdLst/>
            <a:ahLst/>
            <a:cxnLst/>
            <a:rect l="l" t="t" r="r" b="b"/>
            <a:pathLst>
              <a:path w="219404" h="228600">
                <a:moveTo>
                  <a:pt x="88271" y="0"/>
                </a:moveTo>
                <a:lnTo>
                  <a:pt x="131134" y="0"/>
                </a:lnTo>
                <a:lnTo>
                  <a:pt x="139619" y="33940"/>
                </a:lnTo>
                <a:cubicBezTo>
                  <a:pt x="148673" y="37312"/>
                  <a:pt x="157004" y="42170"/>
                  <a:pt x="164313" y="48219"/>
                </a:cubicBezTo>
                <a:lnTo>
                  <a:pt x="197973" y="38590"/>
                </a:lnTo>
                <a:lnTo>
                  <a:pt x="219404" y="75710"/>
                </a:lnTo>
                <a:lnTo>
                  <a:pt x="194246" y="100036"/>
                </a:lnTo>
                <a:cubicBezTo>
                  <a:pt x="195023" y="104675"/>
                  <a:pt x="195427" y="109440"/>
                  <a:pt x="195427" y="114300"/>
                </a:cubicBezTo>
                <a:cubicBezTo>
                  <a:pt x="195427" y="119160"/>
                  <a:pt x="195023" y="123925"/>
                  <a:pt x="194246" y="128564"/>
                </a:cubicBezTo>
                <a:lnTo>
                  <a:pt x="219404" y="152891"/>
                </a:lnTo>
                <a:lnTo>
                  <a:pt x="197973" y="190009"/>
                </a:lnTo>
                <a:lnTo>
                  <a:pt x="164313" y="180381"/>
                </a:lnTo>
                <a:cubicBezTo>
                  <a:pt x="157004" y="186429"/>
                  <a:pt x="148673" y="191288"/>
                  <a:pt x="139619" y="194660"/>
                </a:cubicBezTo>
                <a:lnTo>
                  <a:pt x="131134" y="228600"/>
                </a:lnTo>
                <a:lnTo>
                  <a:pt x="88271" y="228600"/>
                </a:lnTo>
                <a:lnTo>
                  <a:pt x="79786" y="194660"/>
                </a:lnTo>
                <a:cubicBezTo>
                  <a:pt x="70732" y="191288"/>
                  <a:pt x="62401" y="186429"/>
                  <a:pt x="55091" y="180381"/>
                </a:cubicBezTo>
                <a:lnTo>
                  <a:pt x="21431" y="190009"/>
                </a:lnTo>
                <a:lnTo>
                  <a:pt x="0" y="152891"/>
                </a:lnTo>
                <a:lnTo>
                  <a:pt x="25159" y="128564"/>
                </a:lnTo>
                <a:cubicBezTo>
                  <a:pt x="24382" y="123925"/>
                  <a:pt x="23977" y="119160"/>
                  <a:pt x="23977" y="114300"/>
                </a:cubicBezTo>
                <a:cubicBezTo>
                  <a:pt x="23977" y="109440"/>
                  <a:pt x="24382" y="104675"/>
                  <a:pt x="25159" y="100036"/>
                </a:cubicBezTo>
                <a:lnTo>
                  <a:pt x="0" y="75710"/>
                </a:lnTo>
                <a:lnTo>
                  <a:pt x="21431" y="38590"/>
                </a:lnTo>
                <a:lnTo>
                  <a:pt x="55091" y="48219"/>
                </a:lnTo>
                <a:cubicBezTo>
                  <a:pt x="62401" y="42170"/>
                  <a:pt x="70732" y="37312"/>
                  <a:pt x="79786" y="33940"/>
                </a:cubicBezTo>
                <a:lnTo>
                  <a:pt x="88271" y="0"/>
                </a:lnTo>
                <a:close/>
                <a:moveTo>
                  <a:pt x="109702" y="142875"/>
                </a:moveTo>
                <a:cubicBezTo>
                  <a:pt x="125484" y="142875"/>
                  <a:pt x="138277" y="130082"/>
                  <a:pt x="138277" y="114300"/>
                </a:cubicBezTo>
                <a:cubicBezTo>
                  <a:pt x="138277" y="98518"/>
                  <a:pt x="125484" y="85725"/>
                  <a:pt x="109702" y="85725"/>
                </a:cubicBezTo>
                <a:cubicBezTo>
                  <a:pt x="93921" y="85725"/>
                  <a:pt x="81127" y="98518"/>
                  <a:pt x="81127" y="114300"/>
                </a:cubicBezTo>
                <a:cubicBezTo>
                  <a:pt x="81127" y="130082"/>
                  <a:pt x="93921" y="142875"/>
                  <a:pt x="109702" y="142875"/>
                </a:cubicBez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108710" y="2804160"/>
            <a:ext cx="4905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clean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9662" y="3040856"/>
            <a:ext cx="357759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744 raw → cleaned.parquet / 14,116 行 / 75 KB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8675" y="3390900"/>
            <a:ext cx="171451" cy="228600"/>
            <a:chOff x="828675" y="3390900"/>
            <a:chExt cx="171451" cy="228600"/>
          </a:xfrm>
        </p:grpSpPr>
        <p:sp>
          <p:nvSpPr>
            <p:cNvPr id="16" name="Freeform 16"/>
            <p:cNvSpPr/>
            <p:nvPr/>
          </p:nvSpPr>
          <p:spPr>
            <a:xfrm>
              <a:off x="828675" y="3390900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1714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71450" y="571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828675" y="3476625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0" y="0"/>
                  </a:moveTo>
                  <a:lnTo>
                    <a:pt x="71438" y="0"/>
                  </a:lnTo>
                  <a:lnTo>
                    <a:pt x="71438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28675" y="3562350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0" y="0"/>
                  </a:moveTo>
                  <a:lnTo>
                    <a:pt x="71438" y="0"/>
                  </a:lnTo>
                  <a:lnTo>
                    <a:pt x="71438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928688" y="3562350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0" y="0"/>
                  </a:moveTo>
                  <a:lnTo>
                    <a:pt x="71438" y="0"/>
                  </a:lnTo>
                  <a:lnTo>
                    <a:pt x="71438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928688" y="3476625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71438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71438" y="57150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08710" y="3356610"/>
            <a:ext cx="15394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Athena COUNT(*)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9662" y="3593306"/>
            <a:ext cx="80081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= 14,116 行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00100" y="3957638"/>
            <a:ext cx="228600" cy="200025"/>
            <a:chOff x="800100" y="3957638"/>
            <a:chExt cx="228600" cy="200025"/>
          </a:xfrm>
        </p:grpSpPr>
        <p:sp>
          <p:nvSpPr>
            <p:cNvPr id="24" name="Freeform 24"/>
            <p:cNvSpPr/>
            <p:nvPr/>
          </p:nvSpPr>
          <p:spPr>
            <a:xfrm>
              <a:off x="971550" y="3957638"/>
              <a:ext cx="57150" cy="200025"/>
            </a:xfrm>
            <a:custGeom>
              <a:avLst/>
              <a:gdLst/>
              <a:ahLst/>
              <a:cxnLst/>
              <a:rect l="l" t="t" r="r" b="b"/>
              <a:pathLst>
                <a:path w="57150" h="200025">
                  <a:moveTo>
                    <a:pt x="5715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57150" y="2000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885825" y="4014788"/>
              <a:ext cx="57150" cy="142875"/>
            </a:xfrm>
            <a:custGeom>
              <a:avLst/>
              <a:gdLst/>
              <a:ahLst/>
              <a:cxnLst/>
              <a:rect l="l" t="t" r="r" b="b"/>
              <a:pathLst>
                <a:path w="57150" h="142875">
                  <a:moveTo>
                    <a:pt x="0" y="0"/>
                  </a:moveTo>
                  <a:lnTo>
                    <a:pt x="57150" y="0"/>
                  </a:lnTo>
                  <a:lnTo>
                    <a:pt x="57150" y="142875"/>
                  </a:ln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800100" y="4071938"/>
              <a:ext cx="57150" cy="85725"/>
            </a:xfrm>
            <a:custGeom>
              <a:avLst/>
              <a:gdLst/>
              <a:ahLst/>
              <a:cxnLst/>
              <a:rect l="l" t="t" r="r" b="b"/>
              <a:pathLst>
                <a:path w="57150" h="85725">
                  <a:moveTo>
                    <a:pt x="0" y="0"/>
                  </a:moveTo>
                  <a:lnTo>
                    <a:pt x="57150" y="0"/>
                  </a:lnTo>
                  <a:lnTo>
                    <a:pt x="57150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8710" y="3909060"/>
            <a:ext cx="267121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Athena GROUP BY vehicle_type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9662" y="4145756"/>
            <a:ext cx="237815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5 列 / 共 1,529,833 次車輛通過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" y="4629150"/>
            <a:ext cx="4829175" cy="1314450"/>
          </a:xfrm>
          <a:custGeom>
            <a:avLst/>
            <a:gdLst/>
            <a:ahLst/>
            <a:cxnLst/>
            <a:rect l="l" t="t" r="r" b="b"/>
            <a:pathLst>
              <a:path w="4829175" h="1314450">
                <a:moveTo>
                  <a:pt x="76200" y="0"/>
                </a:moveTo>
                <a:lnTo>
                  <a:pt x="4752975" y="0"/>
                </a:lnTo>
                <a:cubicBezTo>
                  <a:pt x="4795059" y="0"/>
                  <a:pt x="4829175" y="34116"/>
                  <a:pt x="4829175" y="76200"/>
                </a:cubicBezTo>
                <a:lnTo>
                  <a:pt x="4829175" y="1238250"/>
                </a:lnTo>
                <a:cubicBezTo>
                  <a:pt x="4829175" y="1280334"/>
                  <a:pt x="4795059" y="1314450"/>
                  <a:pt x="4752975" y="1314450"/>
                </a:cubicBezTo>
                <a:lnTo>
                  <a:pt x="76200" y="1314450"/>
                </a:lnTo>
                <a:cubicBezTo>
                  <a:pt x="34116" y="1314450"/>
                  <a:pt x="0" y="1280334"/>
                  <a:pt x="0" y="12382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Freeform 31"/>
          <p:cNvSpPr/>
          <p:nvPr/>
        </p:nvSpPr>
        <p:spPr>
          <a:xfrm>
            <a:off x="97155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1262062" y="4831556"/>
            <a:ext cx="254739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誠實驗證：14,116 vs 期中 14,058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262" y="5136356"/>
            <a:ext cx="317504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+58 行不是 bug：這次抓齊 744 個逐時檔，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7262" y="5384006"/>
            <a:ext cx="2682121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期中當時只有 741 檔（漏 3 小時），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7262" y="5631656"/>
            <a:ext cx="290393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3 小時 × 約 20 行 ≈ +58，完全對得上。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20790" y="1791652"/>
            <a:ext cx="1942809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b="1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Athena COUNT(*) = 14,116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334125" y="2000250"/>
            <a:ext cx="528637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8" name="Imag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922" y="2057400"/>
            <a:ext cx="3955732" cy="17907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6320790" y="4153852"/>
            <a:ext cx="2643247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GROUP BY vehicle_type → 5 列 PASS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34125" y="4362450"/>
            <a:ext cx="52863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422" y="4419600"/>
            <a:ext cx="4335780" cy="169545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745" y="6578441"/>
            <a:ext cx="33423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7360994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工程價值：不在跑得快，在可重現 / 通用 / 審計 / 傳承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6132747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清洗時間差不多，但 Stage 2 多了可重現、可通用、可審計、可傳承。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95500" cy="495300"/>
          </a:xfrm>
          <a:prstGeom prst="rect">
            <a:avLst/>
          </a:prstGeom>
          <a:solidFill>
            <a:srgbClr val="325969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ectangle 9"/>
          <p:cNvSpPr/>
          <p:nvPr/>
        </p:nvSpPr>
        <p:spPr>
          <a:xfrm>
            <a:off x="2705100" y="1619250"/>
            <a:ext cx="4438650" cy="495300"/>
          </a:xfrm>
          <a:prstGeom prst="rect">
            <a:avLst/>
          </a:prstGeom>
          <a:solidFill>
            <a:srgbClr val="325969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tangle 10"/>
          <p:cNvSpPr/>
          <p:nvPr/>
        </p:nvSpPr>
        <p:spPr>
          <a:xfrm>
            <a:off x="7181850" y="1619250"/>
            <a:ext cx="4438650" cy="495300"/>
          </a:xfrm>
          <a:prstGeom prst="rect">
            <a:avLst/>
          </a:prstGeom>
          <a:solidFill>
            <a:srgbClr val="2F5E4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83908" y="1795939"/>
            <a:ext cx="423434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維度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17508" y="1795939"/>
            <a:ext cx="1039336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期中 ‧ 手工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94258" y="1795939"/>
            <a:ext cx="1508595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期末 ‧ CLI + AWS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114550"/>
            <a:ext cx="11049000" cy="762000"/>
          </a:xfrm>
          <a:prstGeom prst="rect">
            <a:avLst/>
          </a:pr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84860" y="2423160"/>
            <a:ext cx="5825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重現性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19412" y="2431256"/>
            <a:ext cx="284642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Python + 硬編路徑，跨機器要改 5+ 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96162" y="2431256"/>
            <a:ext cx="273962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npx 一鍵、wizard 五步，無腦可重現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876550"/>
            <a:ext cx="11049000" cy="762000"/>
          </a:xfrm>
          <a:prstGeom prst="rect">
            <a:avLst/>
          </a:prstGeom>
          <a:solidFill>
            <a:srgbClr val="1F343D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84860" y="3185160"/>
            <a:ext cx="5825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通用性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19412" y="3193256"/>
            <a:ext cx="193452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綁死 2026/03 麻豆 4 匝道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96162" y="3193256"/>
            <a:ext cx="2846427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任意年月 + 339 個門架（1 → ∞ cases）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638550"/>
            <a:ext cx="11049000" cy="762000"/>
          </a:xfrm>
          <a:prstGeom prst="rect">
            <a:avLst/>
          </a:pr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784860" y="3947160"/>
            <a:ext cx="7665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使用門檻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19412" y="3955256"/>
            <a:ext cx="2411016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要懂 venv / argparse / pandas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96162" y="3955256"/>
            <a:ext cx="223849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npm CLI，不需要 Python 知識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400550"/>
            <a:ext cx="11049000" cy="762000"/>
          </a:xfrm>
          <a:prstGeom prst="rect">
            <a:avLst/>
          </a:prstGeom>
          <a:solidFill>
            <a:srgbClr val="1F343D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84860" y="4709160"/>
            <a:ext cx="5825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證據鏈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19412" y="4717256"/>
            <a:ext cx="133481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本機 csv、無歷史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96162" y="4717256"/>
            <a:ext cx="3125748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Athena 可重查、S3 永久存、Glue catalog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5162550"/>
            <a:ext cx="11049000" cy="762000"/>
          </a:xfrm>
          <a:prstGeom prst="rect">
            <a:avLst/>
          </a:pr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784860" y="5471160"/>
            <a:ext cx="7665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工程文檔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19412" y="5479256"/>
            <a:ext cx="685800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零散筆記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96162" y="5479256"/>
            <a:ext cx="2378154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設計藍圖 + 決策紀錄 + 驗證證據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66622" y="6578441"/>
            <a:ext cx="364355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4026727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AWS 費用：整套月花 US$0.02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237461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選對服務形態（純 Lambda + Athena scan cap + 無常駐），省得下也是工程證據。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38300"/>
            <a:ext cx="2762250" cy="1962150"/>
          </a:xfrm>
          <a:custGeom>
            <a:avLst/>
            <a:gdLst/>
            <a:ahLst/>
            <a:cxnLst/>
            <a:rect l="l" t="t" r="r" b="b"/>
            <a:pathLst>
              <a:path w="2762250" h="196215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1847850"/>
                </a:lnTo>
                <a:cubicBezTo>
                  <a:pt x="2762250" y="1910976"/>
                  <a:pt x="2711076" y="1962150"/>
                  <a:pt x="2647950" y="1962150"/>
                </a:cubicBezTo>
                <a:lnTo>
                  <a:pt x="114300" y="1962150"/>
                </a:lnTo>
                <a:cubicBezTo>
                  <a:pt x="51174" y="1962150"/>
                  <a:pt x="0" y="1910976"/>
                  <a:pt x="0" y="1847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638300"/>
            <a:ext cx="2762250" cy="57150"/>
          </a:xfrm>
          <a:custGeom>
            <a:avLst/>
            <a:gdLst/>
            <a:ahLst/>
            <a:cxnLst/>
            <a:rect l="l" t="t" r="r" b="b"/>
            <a:pathLst>
              <a:path w="2762250" h="57150">
                <a:moveTo>
                  <a:pt x="28575" y="0"/>
                </a:moveTo>
                <a:lnTo>
                  <a:pt x="2733675" y="0"/>
                </a:lnTo>
                <a:cubicBezTo>
                  <a:pt x="2749457" y="0"/>
                  <a:pt x="2762250" y="12793"/>
                  <a:pt x="2762250" y="28575"/>
                </a:cubicBezTo>
                <a:lnTo>
                  <a:pt x="2762250" y="28575"/>
                </a:lnTo>
                <a:cubicBezTo>
                  <a:pt x="2762250" y="44357"/>
                  <a:pt x="2749457" y="57150"/>
                  <a:pt x="2733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792956" y="1905000"/>
            <a:ext cx="185738" cy="247650"/>
          </a:xfrm>
          <a:custGeom>
            <a:avLst/>
            <a:gdLst/>
            <a:ahLst/>
            <a:cxnLst/>
            <a:rect l="l" t="t" r="r" b="b"/>
            <a:pathLst>
              <a:path w="185738" h="247650">
                <a:moveTo>
                  <a:pt x="65257" y="232172"/>
                </a:moveTo>
                <a:lnTo>
                  <a:pt x="63537" y="247650"/>
                </a:lnTo>
                <a:lnTo>
                  <a:pt x="94684" y="247650"/>
                </a:lnTo>
                <a:lnTo>
                  <a:pt x="96403" y="232172"/>
                </a:lnTo>
                <a:lnTo>
                  <a:pt x="123871" y="232172"/>
                </a:lnTo>
                <a:cubicBezTo>
                  <a:pt x="158039" y="232172"/>
                  <a:pt x="185738" y="204474"/>
                  <a:pt x="185738" y="170306"/>
                </a:cubicBezTo>
                <a:cubicBezTo>
                  <a:pt x="185738" y="141310"/>
                  <a:pt x="165599" y="116204"/>
                  <a:pt x="137293" y="109913"/>
                </a:cubicBezTo>
                <a:lnTo>
                  <a:pt x="110646" y="103992"/>
                </a:lnTo>
                <a:lnTo>
                  <a:pt x="115321" y="61912"/>
                </a:lnTo>
                <a:lnTo>
                  <a:pt x="170259" y="61912"/>
                </a:lnTo>
                <a:lnTo>
                  <a:pt x="170259" y="15478"/>
                </a:lnTo>
                <a:lnTo>
                  <a:pt x="120481" y="15478"/>
                </a:lnTo>
                <a:lnTo>
                  <a:pt x="122200" y="0"/>
                </a:lnTo>
                <a:lnTo>
                  <a:pt x="91054" y="0"/>
                </a:lnTo>
                <a:lnTo>
                  <a:pt x="89334" y="15478"/>
                </a:lnTo>
                <a:lnTo>
                  <a:pt x="61866" y="15478"/>
                </a:lnTo>
                <a:cubicBezTo>
                  <a:pt x="27698" y="15478"/>
                  <a:pt x="0" y="43176"/>
                  <a:pt x="0" y="77344"/>
                </a:cubicBezTo>
                <a:cubicBezTo>
                  <a:pt x="0" y="106340"/>
                  <a:pt x="20139" y="131446"/>
                  <a:pt x="48445" y="137737"/>
                </a:cubicBezTo>
                <a:lnTo>
                  <a:pt x="75092" y="143658"/>
                </a:lnTo>
                <a:lnTo>
                  <a:pt x="70416" y="185738"/>
                </a:lnTo>
                <a:lnTo>
                  <a:pt x="15478" y="185738"/>
                </a:lnTo>
                <a:lnTo>
                  <a:pt x="15478" y="232172"/>
                </a:lnTo>
                <a:lnTo>
                  <a:pt x="65257" y="232172"/>
                </a:lnTo>
                <a:close/>
                <a:moveTo>
                  <a:pt x="101563" y="185738"/>
                </a:moveTo>
                <a:lnTo>
                  <a:pt x="123871" y="185738"/>
                </a:lnTo>
                <a:cubicBezTo>
                  <a:pt x="132394" y="185738"/>
                  <a:pt x="139303" y="178828"/>
                  <a:pt x="139303" y="170306"/>
                </a:cubicBezTo>
                <a:cubicBezTo>
                  <a:pt x="139303" y="163073"/>
                  <a:pt x="134279" y="156810"/>
                  <a:pt x="127219" y="155242"/>
                </a:cubicBezTo>
                <a:lnTo>
                  <a:pt x="105488" y="150413"/>
                </a:lnTo>
                <a:lnTo>
                  <a:pt x="101563" y="185738"/>
                </a:lnTo>
                <a:close/>
                <a:moveTo>
                  <a:pt x="80249" y="97237"/>
                </a:moveTo>
                <a:lnTo>
                  <a:pt x="84174" y="61912"/>
                </a:lnTo>
                <a:lnTo>
                  <a:pt x="61866" y="61912"/>
                </a:lnTo>
                <a:cubicBezTo>
                  <a:pt x="53343" y="61912"/>
                  <a:pt x="46434" y="68821"/>
                  <a:pt x="46434" y="77344"/>
                </a:cubicBezTo>
                <a:cubicBezTo>
                  <a:pt x="46434" y="84577"/>
                  <a:pt x="51458" y="90839"/>
                  <a:pt x="58518" y="92408"/>
                </a:cubicBezTo>
                <a:lnTo>
                  <a:pt x="80249" y="97237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946606" y="2276475"/>
            <a:ext cx="2012037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4500" b="1" dirty="0">
                <a:solidFill>
                  <a:srgbClr val="9BB89A"/>
                </a:solidFill>
                <a:latin typeface="Segoe UI"/>
                <a:ea typeface="Microsoft YaHei"/>
                <a:cs typeface="Segoe UI"/>
              </a:rPr>
              <a:t>$0.02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9490" y="3051810"/>
            <a:ext cx="14062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當月累計（6 月）</a:t>
            </a:r>
          </a:p>
        </p:txBody>
      </p:sp>
      <p:sp>
        <p:nvSpPr>
          <p:cNvPr id="13" name="Freeform 13"/>
          <p:cNvSpPr/>
          <p:nvPr/>
        </p:nvSpPr>
        <p:spPr>
          <a:xfrm>
            <a:off x="3524250" y="1638300"/>
            <a:ext cx="2762250" cy="1962150"/>
          </a:xfrm>
          <a:custGeom>
            <a:avLst/>
            <a:gdLst/>
            <a:ahLst/>
            <a:cxnLst/>
            <a:rect l="l" t="t" r="r" b="b"/>
            <a:pathLst>
              <a:path w="2762250" h="1962150">
                <a:moveTo>
                  <a:pt x="114300" y="0"/>
                </a:moveTo>
                <a:lnTo>
                  <a:pt x="2647950" y="0"/>
                </a:lnTo>
                <a:cubicBezTo>
                  <a:pt x="2711076" y="0"/>
                  <a:pt x="2762250" y="51174"/>
                  <a:pt x="2762250" y="114300"/>
                </a:cubicBezTo>
                <a:lnTo>
                  <a:pt x="2762250" y="1847850"/>
                </a:lnTo>
                <a:cubicBezTo>
                  <a:pt x="2762250" y="1910976"/>
                  <a:pt x="2711076" y="1962150"/>
                  <a:pt x="2647950" y="1962150"/>
                </a:cubicBezTo>
                <a:lnTo>
                  <a:pt x="114300" y="1962150"/>
                </a:lnTo>
                <a:cubicBezTo>
                  <a:pt x="51174" y="1962150"/>
                  <a:pt x="0" y="1910976"/>
                  <a:pt x="0" y="1847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3524250" y="1638300"/>
            <a:ext cx="2762250" cy="57150"/>
          </a:xfrm>
          <a:custGeom>
            <a:avLst/>
            <a:gdLst/>
            <a:ahLst/>
            <a:cxnLst/>
            <a:rect l="l" t="t" r="r" b="b"/>
            <a:pathLst>
              <a:path w="2762250" h="57150">
                <a:moveTo>
                  <a:pt x="28575" y="0"/>
                </a:moveTo>
                <a:lnTo>
                  <a:pt x="2733675" y="0"/>
                </a:lnTo>
                <a:cubicBezTo>
                  <a:pt x="2749457" y="0"/>
                  <a:pt x="2762250" y="12793"/>
                  <a:pt x="2762250" y="28575"/>
                </a:cubicBezTo>
                <a:lnTo>
                  <a:pt x="2762250" y="28575"/>
                </a:lnTo>
                <a:cubicBezTo>
                  <a:pt x="2762250" y="44357"/>
                  <a:pt x="2749457" y="57150"/>
                  <a:pt x="2733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3730228" y="1920478"/>
            <a:ext cx="216694" cy="216694"/>
            <a:chOff x="3730228" y="1920478"/>
            <a:chExt cx="216694" cy="216694"/>
          </a:xfrm>
        </p:grpSpPr>
        <p:sp>
          <p:nvSpPr>
            <p:cNvPr id="15" name="Freeform 15"/>
            <p:cNvSpPr/>
            <p:nvPr/>
          </p:nvSpPr>
          <p:spPr>
            <a:xfrm>
              <a:off x="3730228" y="1920478"/>
              <a:ext cx="216694" cy="216694"/>
            </a:xfrm>
            <a:custGeom>
              <a:avLst/>
              <a:gdLst/>
              <a:ahLst/>
              <a:cxnLst/>
              <a:rect l="l" t="t" r="r" b="b"/>
              <a:pathLst>
                <a:path w="216694" h="216694">
                  <a:moveTo>
                    <a:pt x="0" y="0"/>
                  </a:moveTo>
                  <a:lnTo>
                    <a:pt x="0" y="216694"/>
                  </a:lnTo>
                  <a:lnTo>
                    <a:pt x="216694" y="216694"/>
                  </a:lnTo>
                  <a:lnTo>
                    <a:pt x="216694" y="185738"/>
                  </a:lnTo>
                  <a:lnTo>
                    <a:pt x="30956" y="185738"/>
                  </a:lnTo>
                  <a:lnTo>
                    <a:pt x="309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92141" y="1951434"/>
              <a:ext cx="154781" cy="123825"/>
            </a:xfrm>
            <a:custGeom>
              <a:avLst/>
              <a:gdLst/>
              <a:ahLst/>
              <a:cxnLst/>
              <a:rect l="l" t="t" r="r" b="b"/>
              <a:pathLst>
                <a:path w="154781" h="123825">
                  <a:moveTo>
                    <a:pt x="0" y="61912"/>
                  </a:moveTo>
                  <a:lnTo>
                    <a:pt x="30956" y="30956"/>
                  </a:lnTo>
                  <a:lnTo>
                    <a:pt x="77391" y="77391"/>
                  </a:lnTo>
                  <a:lnTo>
                    <a:pt x="154781" y="0"/>
                  </a:lnTo>
                  <a:lnTo>
                    <a:pt x="154781" y="123825"/>
                  </a:lnTo>
                  <a:lnTo>
                    <a:pt x="0" y="123825"/>
                  </a:lnTo>
                  <a:lnTo>
                    <a:pt x="0" y="61912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985617" y="2276475"/>
            <a:ext cx="1839516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4500" b="1" dirty="0">
                <a:solidFill>
                  <a:srgbClr val="F2CDB4"/>
                </a:solidFill>
                <a:latin typeface="Segoe UI"/>
                <a:ea typeface="Microsoft YaHei"/>
                <a:cs typeface="Segoe UI"/>
              </a:rPr>
              <a:t>$0.19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39615" y="3051810"/>
            <a:ext cx="7315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預估月底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572250" y="1638300"/>
            <a:ext cx="5048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3A5560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1695450"/>
            <a:ext cx="2601278" cy="1847850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571500" y="3810000"/>
            <a:ext cx="11049000" cy="2362200"/>
          </a:xfrm>
          <a:custGeom>
            <a:avLst/>
            <a:gdLst/>
            <a:ahLst/>
            <a:cxnLst/>
            <a:rect l="l" t="t" r="r" b="b"/>
            <a:pathLst>
              <a:path w="11049000" h="23622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2247900"/>
                </a:lnTo>
                <a:cubicBezTo>
                  <a:pt x="11049000" y="2311026"/>
                  <a:pt x="10997826" y="2362200"/>
                  <a:pt x="10934700" y="2362200"/>
                </a:cubicBezTo>
                <a:lnTo>
                  <a:pt x="114300" y="2362200"/>
                </a:lnTo>
                <a:cubicBezTo>
                  <a:pt x="51174" y="2362200"/>
                  <a:pt x="0" y="2311026"/>
                  <a:pt x="0" y="2247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782002" y="4056221"/>
            <a:ext cx="4428594" cy="3076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2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為什麼幾乎不花錢——這是工程選擇的成本實證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" y="44767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166423" y="74745"/>
                </a:moveTo>
                <a:lnTo>
                  <a:pt x="147902" y="56223"/>
                </a:lnTo>
                <a:lnTo>
                  <a:pt x="85130" y="118995"/>
                </a:lnTo>
                <a:lnTo>
                  <a:pt x="61648" y="95514"/>
                </a:lnTo>
                <a:lnTo>
                  <a:pt x="43127" y="114036"/>
                </a:lnTo>
                <a:lnTo>
                  <a:pt x="85130" y="156039"/>
                </a:lnTo>
                <a:lnTo>
                  <a:pt x="166423" y="74745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89660" y="4509135"/>
            <a:ext cx="69006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純 Lambda 按呼叫計費、無常駐叢集——vs Glue Spark / EMR / Redshift 省去整筆固定費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0100" y="48196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166423" y="74745"/>
                </a:moveTo>
                <a:lnTo>
                  <a:pt x="147902" y="56223"/>
                </a:lnTo>
                <a:lnTo>
                  <a:pt x="85130" y="118995"/>
                </a:lnTo>
                <a:lnTo>
                  <a:pt x="61648" y="95514"/>
                </a:lnTo>
                <a:lnTo>
                  <a:pt x="43127" y="114036"/>
                </a:lnTo>
                <a:lnTo>
                  <a:pt x="85130" y="156039"/>
                </a:lnTo>
                <a:lnTo>
                  <a:pt x="166423" y="74745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089660" y="4852035"/>
            <a:ext cx="52970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Athena scan cap 10 MB、單次查詢掃 &lt; 30 KB（$5/TB → 幾乎不計）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0100" y="51625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166423" y="74745"/>
                </a:moveTo>
                <a:lnTo>
                  <a:pt x="147902" y="56223"/>
                </a:lnTo>
                <a:lnTo>
                  <a:pt x="85130" y="118995"/>
                </a:lnTo>
                <a:lnTo>
                  <a:pt x="61648" y="95514"/>
                </a:lnTo>
                <a:lnTo>
                  <a:pt x="43127" y="114036"/>
                </a:lnTo>
                <a:lnTo>
                  <a:pt x="85130" y="156039"/>
                </a:lnTo>
                <a:lnTo>
                  <a:pt x="166423" y="74745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1089660" y="5194935"/>
            <a:ext cx="42630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S3 cleaned.parquet 僅 ~75 KB（型別修正 INT32 後）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" y="55054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166423" y="74745"/>
                </a:moveTo>
                <a:lnTo>
                  <a:pt x="147902" y="56223"/>
                </a:lnTo>
                <a:lnTo>
                  <a:pt x="85130" y="118995"/>
                </a:lnTo>
                <a:lnTo>
                  <a:pt x="61648" y="95514"/>
                </a:lnTo>
                <a:lnTo>
                  <a:pt x="43127" y="114036"/>
                </a:lnTo>
                <a:lnTo>
                  <a:pt x="85130" y="156039"/>
                </a:lnTo>
                <a:lnTo>
                  <a:pt x="166423" y="74745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089660" y="5537835"/>
            <a:ext cx="484136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無 EC2 / RDS / Redshift 常駐資源——零「開著就計費」的服務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6765" y="5887402"/>
            <a:ext cx="5562695" cy="2266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050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「對的工具解對的問題」不只跑得動、還省得下——這是工程取捨在帳單上的證據。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66622" y="6578441"/>
            <a:ext cx="364355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D35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25969"/>
              </a:gs>
              <a:gs pos="100000">
                <a:srgbClr val="6B8FA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46735" y="399098"/>
            <a:ext cx="5402299" cy="421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95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結語：v2 已跑通，v3.0 推向人人可自架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19150"/>
            <a:ext cx="11049000" cy="495300"/>
          </a:xfrm>
          <a:custGeom>
            <a:avLst/>
            <a:gdLst/>
            <a:ahLst/>
            <a:cxnLst/>
            <a:rect l="l" t="t" r="r" b="b"/>
            <a:pathLst>
              <a:path w="11049000" h="4953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438150"/>
                </a:lnTo>
                <a:cubicBezTo>
                  <a:pt x="11049000" y="469713"/>
                  <a:pt x="11023413" y="495300"/>
                  <a:pt x="10991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ectangle 6"/>
          <p:cNvSpPr/>
          <p:nvPr/>
        </p:nvSpPr>
        <p:spPr>
          <a:xfrm>
            <a:off x="571500" y="819150"/>
            <a:ext cx="57150" cy="495300"/>
          </a:xfrm>
          <a:prstGeom prst="rect">
            <a:avLst/>
          </a:pr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83908" y="995839"/>
            <a:ext cx="7432985" cy="27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75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同一份 wizard 與清洗邏輯不變，把教學帳號推進到人人可自架的事實標準前置工具。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38300"/>
            <a:ext cx="3524250" cy="3009900"/>
          </a:xfrm>
          <a:custGeom>
            <a:avLst/>
            <a:gdLst/>
            <a:ahLst/>
            <a:cxnLst/>
            <a:rect l="l" t="t" r="r" b="b"/>
            <a:pathLst>
              <a:path w="3524250" h="30099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95600"/>
                </a:lnTo>
                <a:cubicBezTo>
                  <a:pt x="3524250" y="2958726"/>
                  <a:pt x="3473076" y="3009900"/>
                  <a:pt x="3409950" y="3009900"/>
                </a:cubicBezTo>
                <a:lnTo>
                  <a:pt x="114300" y="3009900"/>
                </a:lnTo>
                <a:cubicBezTo>
                  <a:pt x="51174" y="3009900"/>
                  <a:pt x="0" y="2958726"/>
                  <a:pt x="0" y="2895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571500" y="163830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Ellipse 10"/>
          <p:cNvSpPr/>
          <p:nvPr/>
        </p:nvSpPr>
        <p:spPr>
          <a:xfrm>
            <a:off x="781050" y="2019300"/>
            <a:ext cx="533400" cy="5334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89535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04775"/>
                </a:moveTo>
                <a:cubicBezTo>
                  <a:pt x="304800" y="162641"/>
                  <a:pt x="257891" y="209550"/>
                  <a:pt x="200025" y="209550"/>
                </a:cubicBezTo>
                <a:lnTo>
                  <a:pt x="133350" y="209550"/>
                </a:lnTo>
                <a:lnTo>
                  <a:pt x="133350" y="247650"/>
                </a:lnTo>
                <a:lnTo>
                  <a:pt x="95250" y="247650"/>
                </a:lnTo>
                <a:lnTo>
                  <a:pt x="95250" y="28575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228600"/>
                </a:lnTo>
                <a:lnTo>
                  <a:pt x="98365" y="130235"/>
                </a:lnTo>
                <a:cubicBezTo>
                  <a:pt x="96330" y="122084"/>
                  <a:pt x="95250" y="113556"/>
                  <a:pt x="95250" y="104775"/>
                </a:cubicBezTo>
                <a:cubicBezTo>
                  <a:pt x="95250" y="46909"/>
                  <a:pt x="142159" y="0"/>
                  <a:pt x="200025" y="0"/>
                </a:cubicBezTo>
                <a:cubicBezTo>
                  <a:pt x="257891" y="0"/>
                  <a:pt x="304800" y="46909"/>
                  <a:pt x="304800" y="104775"/>
                </a:cubicBezTo>
                <a:close/>
                <a:moveTo>
                  <a:pt x="247650" y="76200"/>
                </a:moveTo>
                <a:cubicBezTo>
                  <a:pt x="247650" y="86721"/>
                  <a:pt x="239121" y="95250"/>
                  <a:pt x="228600" y="95250"/>
                </a:cubicBezTo>
                <a:cubicBezTo>
                  <a:pt x="218079" y="95250"/>
                  <a:pt x="209550" y="86721"/>
                  <a:pt x="209550" y="76200"/>
                </a:cubicBezTo>
                <a:cubicBezTo>
                  <a:pt x="209550" y="65679"/>
                  <a:pt x="218079" y="57150"/>
                  <a:pt x="228600" y="57150"/>
                </a:cubicBezTo>
                <a:cubicBezTo>
                  <a:pt x="239121" y="57150"/>
                  <a:pt x="247650" y="65679"/>
                  <a:pt x="247650" y="76200"/>
                </a:cubicBez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466850" y="2219325"/>
            <a:ext cx="154478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自帶帳號 + IaC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4860" y="2823210"/>
            <a:ext cx="235267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terraform apply 建出自己的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4860" y="3089910"/>
            <a:ext cx="1783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後端、用自己的金鑰。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860" y="3413760"/>
            <a:ext cx="19583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誰都不必跟我們拿鑰匙，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4860" y="3680460"/>
            <a:ext cx="21336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額度與安全邊界完全隔離。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33875" y="1638300"/>
            <a:ext cx="3524250" cy="3009900"/>
          </a:xfrm>
          <a:custGeom>
            <a:avLst/>
            <a:gdLst/>
            <a:ahLst/>
            <a:cxnLst/>
            <a:rect l="l" t="t" r="r" b="b"/>
            <a:pathLst>
              <a:path w="3524250" h="30099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95600"/>
                </a:lnTo>
                <a:cubicBezTo>
                  <a:pt x="3524250" y="2958726"/>
                  <a:pt x="3473076" y="3009900"/>
                  <a:pt x="3409950" y="3009900"/>
                </a:cubicBezTo>
                <a:lnTo>
                  <a:pt x="114300" y="3009900"/>
                </a:lnTo>
                <a:cubicBezTo>
                  <a:pt x="51174" y="3009900"/>
                  <a:pt x="0" y="2958726"/>
                  <a:pt x="0" y="2895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4333875" y="163830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6B8FA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Ellipse 19"/>
          <p:cNvSpPr/>
          <p:nvPr/>
        </p:nvSpPr>
        <p:spPr>
          <a:xfrm>
            <a:off x="4543425" y="2019300"/>
            <a:ext cx="533400" cy="5334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2" name="Group 22"/>
          <p:cNvGrpSpPr/>
          <p:nvPr/>
        </p:nvGrpSpPr>
        <p:grpSpPr>
          <a:xfrm>
            <a:off x="4657725" y="2133600"/>
            <a:ext cx="304800" cy="304800"/>
            <a:chOff x="4657725" y="2133600"/>
            <a:chExt cx="304800" cy="304800"/>
          </a:xfrm>
        </p:grpSpPr>
        <p:sp>
          <p:nvSpPr>
            <p:cNvPr id="20" name="Freeform 20"/>
            <p:cNvSpPr/>
            <p:nvPr/>
          </p:nvSpPr>
          <p:spPr>
            <a:xfrm>
              <a:off x="4657725" y="213360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190500" y="152400"/>
                  </a:moveTo>
                  <a:lnTo>
                    <a:pt x="171450" y="152400"/>
                  </a:lnTo>
                  <a:lnTo>
                    <a:pt x="171450" y="91817"/>
                  </a:lnTo>
                  <a:lnTo>
                    <a:pt x="98246" y="77177"/>
                  </a:lnTo>
                  <a:cubicBezTo>
                    <a:pt x="94999" y="76527"/>
                    <a:pt x="91696" y="76200"/>
                    <a:pt x="88385" y="76200"/>
                  </a:cubicBezTo>
                  <a:cubicBezTo>
                    <a:pt x="60613" y="76200"/>
                    <a:pt x="38100" y="98713"/>
                    <a:pt x="38100" y="126485"/>
                  </a:cubicBezTo>
                  <a:lnTo>
                    <a:pt x="38100" y="171450"/>
                  </a:lnTo>
                  <a:lnTo>
                    <a:pt x="0" y="171450"/>
                  </a:lnTo>
                  <a:lnTo>
                    <a:pt x="0" y="126485"/>
                  </a:lnTo>
                  <a:cubicBezTo>
                    <a:pt x="0" y="77671"/>
                    <a:pt x="39571" y="38100"/>
                    <a:pt x="88385" y="38100"/>
                  </a:cubicBezTo>
                  <a:cubicBezTo>
                    <a:pt x="94205" y="38100"/>
                    <a:pt x="100011" y="38675"/>
                    <a:pt x="105718" y="39816"/>
                  </a:cubicBezTo>
                  <a:lnTo>
                    <a:pt x="171450" y="52963"/>
                  </a:lnTo>
                  <a:lnTo>
                    <a:pt x="171450" y="0"/>
                  </a:lnTo>
                  <a:lnTo>
                    <a:pt x="190500" y="0"/>
                  </a:lnTo>
                  <a:lnTo>
                    <a:pt x="266700" y="7620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695825" y="226695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266700" y="0"/>
                  </a:moveTo>
                  <a:lnTo>
                    <a:pt x="266700" y="44965"/>
                  </a:lnTo>
                  <a:cubicBezTo>
                    <a:pt x="266700" y="93779"/>
                    <a:pt x="227129" y="133350"/>
                    <a:pt x="178316" y="133350"/>
                  </a:cubicBezTo>
                  <a:cubicBezTo>
                    <a:pt x="172496" y="133350"/>
                    <a:pt x="166689" y="132775"/>
                    <a:pt x="160982" y="131634"/>
                  </a:cubicBezTo>
                  <a:lnTo>
                    <a:pt x="95250" y="118487"/>
                  </a:lnTo>
                  <a:lnTo>
                    <a:pt x="95250" y="171450"/>
                  </a:lnTo>
                  <a:lnTo>
                    <a:pt x="76200" y="171450"/>
                  </a:lnTo>
                  <a:lnTo>
                    <a:pt x="0" y="95250"/>
                  </a:lnTo>
                  <a:lnTo>
                    <a:pt x="76200" y="19050"/>
                  </a:lnTo>
                  <a:lnTo>
                    <a:pt x="95250" y="19050"/>
                  </a:lnTo>
                  <a:lnTo>
                    <a:pt x="95250" y="79633"/>
                  </a:lnTo>
                  <a:lnTo>
                    <a:pt x="168453" y="94273"/>
                  </a:lnTo>
                  <a:cubicBezTo>
                    <a:pt x="171701" y="94922"/>
                    <a:pt x="175005" y="95250"/>
                    <a:pt x="178316" y="95250"/>
                  </a:cubicBezTo>
                  <a:cubicBezTo>
                    <a:pt x="206087" y="95250"/>
                    <a:pt x="228600" y="72737"/>
                    <a:pt x="228600" y="44965"/>
                  </a:cubicBezTo>
                  <a:lnTo>
                    <a:pt x="228600" y="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6B8FA7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229225" y="2219325"/>
            <a:ext cx="206235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dedup + streaming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47235" y="2823210"/>
            <a:ext cx="19320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S3 已有完整 raw 就跳過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47235" y="3089910"/>
            <a:ext cx="23351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下載 + 上傳；邊下邊傳邊刪，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47235" y="3413760"/>
            <a:ext cx="20372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本機峰值恆定在 ~1 個檔。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47235" y="3680460"/>
            <a:ext cx="17830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一次苦工、雲端共享。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96250" y="1638300"/>
            <a:ext cx="3524250" cy="3009900"/>
          </a:xfrm>
          <a:custGeom>
            <a:avLst/>
            <a:gdLst/>
            <a:ahLst/>
            <a:cxnLst/>
            <a:rect l="l" t="t" r="r" b="b"/>
            <a:pathLst>
              <a:path w="3524250" h="30099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95600"/>
                </a:lnTo>
                <a:cubicBezTo>
                  <a:pt x="3524250" y="2958726"/>
                  <a:pt x="3473076" y="3009900"/>
                  <a:pt x="3409950" y="3009900"/>
                </a:cubicBezTo>
                <a:lnTo>
                  <a:pt x="114300" y="3009900"/>
                </a:lnTo>
                <a:cubicBezTo>
                  <a:pt x="51174" y="3009900"/>
                  <a:pt x="0" y="2958726"/>
                  <a:pt x="0" y="2895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43D47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8096250" y="163830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2CDB4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Ellipse 30"/>
          <p:cNvSpPr/>
          <p:nvPr/>
        </p:nvSpPr>
        <p:spPr>
          <a:xfrm>
            <a:off x="8305800" y="2019300"/>
            <a:ext cx="533400" cy="533400"/>
          </a:xfrm>
          <a:prstGeom prst="ellipse">
            <a:avLst/>
          </a:pr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34" name="Group 34"/>
          <p:cNvGrpSpPr/>
          <p:nvPr/>
        </p:nvGrpSpPr>
        <p:grpSpPr>
          <a:xfrm>
            <a:off x="8439150" y="2133600"/>
            <a:ext cx="266700" cy="304800"/>
            <a:chOff x="8439150" y="2133600"/>
            <a:chExt cx="266700" cy="304800"/>
          </a:xfrm>
        </p:grpSpPr>
        <p:sp>
          <p:nvSpPr>
            <p:cNvPr id="31" name="Freeform 31"/>
            <p:cNvSpPr/>
            <p:nvPr/>
          </p:nvSpPr>
          <p:spPr>
            <a:xfrm>
              <a:off x="8439150" y="21336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95250"/>
                  </a:move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95250"/>
                  </a:lnTo>
                  <a:lnTo>
                    <a:pt x="133350" y="1524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8439150" y="2343150"/>
              <a:ext cx="266700" cy="95250"/>
            </a:xfrm>
            <a:custGeom>
              <a:avLst/>
              <a:gdLst/>
              <a:ahLst/>
              <a:cxnLst/>
              <a:rect l="l" t="t" r="r" b="b"/>
              <a:pathLst>
                <a:path w="266700" h="95250">
                  <a:moveTo>
                    <a:pt x="133350" y="9525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133350" y="57150"/>
                  </a:lnTo>
                  <a:lnTo>
                    <a:pt x="266700" y="0"/>
                  </a:lnTo>
                  <a:lnTo>
                    <a:pt x="266700" y="3810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8439150" y="2266950"/>
              <a:ext cx="266700" cy="95250"/>
            </a:xfrm>
            <a:custGeom>
              <a:avLst/>
              <a:gdLst/>
              <a:ahLst/>
              <a:cxnLst/>
              <a:rect l="l" t="t" r="r" b="b"/>
              <a:pathLst>
                <a:path w="266700" h="95250">
                  <a:moveTo>
                    <a:pt x="0" y="38100"/>
                  </a:moveTo>
                  <a:lnTo>
                    <a:pt x="133350" y="95250"/>
                  </a:lnTo>
                  <a:lnTo>
                    <a:pt x="266700" y="38100"/>
                  </a:lnTo>
                  <a:lnTo>
                    <a:pt x="266700" y="0"/>
                  </a:lnTo>
                  <a:lnTo>
                    <a:pt x="133350" y="5715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CDB4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991600" y="2219325"/>
            <a:ext cx="226937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cloud + local 雙 fork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09610" y="2823210"/>
            <a:ext cx="22562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Athena 換 DuckDB、Lambda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09610" y="3089910"/>
            <a:ext cx="23000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收回本機 worker process。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9610" y="3413760"/>
            <a:ext cx="20547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wizard 與清洗邏輯不變，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09610" y="3680460"/>
            <a:ext cx="19583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200" dirty="0">
                <a:solidFill>
                  <a:srgbClr val="CDD9DD"/>
                </a:solidFill>
                <a:latin typeface="Segoe UI"/>
                <a:ea typeface="Microsoft YaHei"/>
                <a:cs typeface="Segoe UI"/>
              </a:rPr>
              <a:t>換的只是後端執行引擎。</a:t>
            </a:r>
          </a:p>
        </p:txBody>
      </p:sp>
      <p:sp>
        <p:nvSpPr>
          <p:cNvPr id="40" name="Freeform 40"/>
          <p:cNvSpPr/>
          <p:nvPr/>
        </p:nvSpPr>
        <p:spPr>
          <a:xfrm>
            <a:off x="571500" y="4876800"/>
            <a:ext cx="11049000" cy="1295400"/>
          </a:xfrm>
          <a:custGeom>
            <a:avLst/>
            <a:gdLst/>
            <a:ahLst/>
            <a:cxnLst/>
            <a:rect l="l" t="t" r="r" b="b"/>
            <a:pathLst>
              <a:path w="11049000" h="12954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81100"/>
                </a:lnTo>
                <a:cubicBezTo>
                  <a:pt x="11049000" y="1244226"/>
                  <a:pt x="10997826" y="1295400"/>
                  <a:pt x="10934700" y="1295400"/>
                </a:cubicBezTo>
                <a:lnTo>
                  <a:pt x="114300" y="1295400"/>
                </a:lnTo>
                <a:cubicBezTo>
                  <a:pt x="51174" y="1295400"/>
                  <a:pt x="0" y="1244226"/>
                  <a:pt x="0" y="1181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A465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Freeform 41"/>
          <p:cNvSpPr/>
          <p:nvPr/>
        </p:nvSpPr>
        <p:spPr>
          <a:xfrm>
            <a:off x="800100" y="5105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211811" y="95130"/>
                </a:moveTo>
                <a:lnTo>
                  <a:pt x="188239" y="71557"/>
                </a:lnTo>
                <a:lnTo>
                  <a:pt x="108347" y="151449"/>
                </a:lnTo>
                <a:lnTo>
                  <a:pt x="78462" y="121563"/>
                </a:lnTo>
                <a:lnTo>
                  <a:pt x="54888" y="145137"/>
                </a:lnTo>
                <a:lnTo>
                  <a:pt x="108347" y="198595"/>
                </a:lnTo>
                <a:lnTo>
                  <a:pt x="211811" y="95130"/>
                </a:lnTo>
                <a:close/>
              </a:path>
            </a:pathLst>
          </a:custGeom>
          <a:solidFill>
            <a:srgbClr val="9BB89A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1162050" y="5153025"/>
            <a:ext cx="769441" cy="287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TW" altLang="en-US" sz="1500" b="1" dirty="0">
                <a:solidFill>
                  <a:srgbClr val="EAF1F3"/>
                </a:solidFill>
                <a:latin typeface="Segoe UI"/>
                <a:ea typeface="Microsoft YaHei"/>
                <a:cs typeface="Segoe UI"/>
              </a:rPr>
              <a:t>未來規劃</a:t>
            </a:r>
            <a:endParaRPr lang="zh-CN" sz="1500" b="1" dirty="0">
              <a:solidFill>
                <a:srgbClr val="EAF1F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95350" y="5648325"/>
            <a:ext cx="7447002" cy="242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25" dirty="0">
                <a:solidFill>
                  <a:srgbClr val="8FB3C4"/>
                </a:solidFill>
                <a:latin typeface="Segoe UI"/>
                <a:ea typeface="Microsoft YaHei"/>
                <a:cs typeface="Segoe UI"/>
              </a:rPr>
              <a:t>demo 後將開設公開 GitHub repo（與教學 repo 區隔）長期維護，讓未來有 TDCS 需求的人直接受惠。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1022" y="6578441"/>
            <a:ext cx="2195822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TDCS CLI ‧ 大數據資料處理 3A ‧ 第 17 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66622" y="6578441"/>
            <a:ext cx="364355" cy="1781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sz="825" dirty="0">
                <a:solidFill>
                  <a:srgbClr val="5E7785"/>
                </a:solidFill>
                <a:latin typeface="Segoe UI"/>
                <a:ea typeface="Microsoft YaHei"/>
                <a:cs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4752</Words>
  <Application>Microsoft Office PowerPoint</Application>
  <PresentationFormat>寬螢幕</PresentationFormat>
  <Paragraphs>325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賴以宸</cp:lastModifiedBy>
  <cp:revision>2</cp:revision>
  <dcterms:created xsi:type="dcterms:W3CDTF">2013-01-27T09:14:16Z</dcterms:created>
  <dcterms:modified xsi:type="dcterms:W3CDTF">2026-06-04T12:20:55Z</dcterms:modified>
  <cp:category/>
</cp:coreProperties>
</file>